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60" r:id="rId4"/>
    <p:sldId id="261" r:id="rId5"/>
    <p:sldId id="262" r:id="rId6"/>
    <p:sldId id="263" r:id="rId7"/>
    <p:sldId id="265"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B4CFD3-9F80-4040-8DD1-EF32F7B7F3CD}">
          <p14:sldIdLst>
            <p14:sldId id="256"/>
            <p14:sldId id="259"/>
          </p14:sldIdLst>
        </p14:section>
        <p14:section name="Introduction" id="{DD723872-36CD-46DC-B135-F415090163AB}">
          <p14:sldIdLst>
            <p14:sldId id="260"/>
            <p14:sldId id="261"/>
            <p14:sldId id="262"/>
          </p14:sldIdLst>
        </p14:section>
        <p14:section name="Section 1" id="{DF8EA5B0-5A53-45D0-ADE4-13D0E54B7777}">
          <p14:sldIdLst>
            <p14:sldId id="263"/>
          </p14:sldIdLst>
        </p14:section>
        <p14:section name="Section 2" id="{C704282B-DF1A-4FF6-BAAC-A9DF6990E4BB}">
          <p14:sldIdLst>
            <p14:sldId id="265"/>
          </p14:sldIdLst>
        </p14:section>
        <p14:section name="Conclusion" id="{45E8FE40-1590-438D-A7CA-4F2A3840D5E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390" autoAdjust="0"/>
  </p:normalViewPr>
  <p:slideViewPr>
    <p:cSldViewPr snapToGrid="0">
      <p:cViewPr varScale="1">
        <p:scale>
          <a:sx n="101" d="100"/>
          <a:sy n="101" d="100"/>
        </p:scale>
        <p:origin x="262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1A533-A596-486D-A015-7F70337ACA6C}" type="datetimeFigureOut">
              <a:rPr lang="en-CA" smtClean="0"/>
              <a:t>2025-12-08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F5BA7-69A6-4A7C-9C56-97D702DC4F93}" type="slidenum">
              <a:rPr lang="en-CA" smtClean="0"/>
              <a:t>‹#›</a:t>
            </a:fld>
            <a:endParaRPr lang="en-CA"/>
          </a:p>
        </p:txBody>
      </p:sp>
    </p:spTree>
    <p:extLst>
      <p:ext uri="{BB962C8B-B14F-4D97-AF65-F5344CB8AC3E}">
        <p14:creationId xmlns:p14="http://schemas.microsoft.com/office/powerpoint/2010/main" val="14584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everybody,</a:t>
            </a:r>
          </a:p>
          <a:p>
            <a:endParaRPr lang="en-US" dirty="0"/>
          </a:p>
          <a:p>
            <a:r>
              <a:rPr lang="en-US" dirty="0"/>
              <a:t>Today I will be presenting something that always had a little bit of mystery behind it… Especially in terms of computer science.</a:t>
            </a:r>
            <a:br>
              <a:rPr lang="en-US" dirty="0"/>
            </a:br>
            <a:br>
              <a:rPr lang="en-US" dirty="0"/>
            </a:br>
            <a:r>
              <a:rPr lang="en-US" dirty="0"/>
              <a:t>So, I asked myself, “What are the modern computational techniques employed for nuclear physics engineering”?</a:t>
            </a:r>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1</a:t>
            </a:fld>
            <a:endParaRPr lang="en-CA"/>
          </a:p>
        </p:txBody>
      </p:sp>
    </p:spTree>
    <p:extLst>
      <p:ext uri="{BB962C8B-B14F-4D97-AF65-F5344CB8AC3E}">
        <p14:creationId xmlns:p14="http://schemas.microsoft.com/office/powerpoint/2010/main" val="3486788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go over this  presentation’s agenda.</a:t>
            </a:r>
            <a:br>
              <a:rPr lang="en-US" dirty="0"/>
            </a:br>
            <a:br>
              <a:rPr lang="en-US" dirty="0"/>
            </a:br>
            <a:r>
              <a:rPr lang="en-US" dirty="0"/>
              <a:t>We’ll start by introducing what the scope of the presentation.</a:t>
            </a:r>
            <a:br>
              <a:rPr lang="en-US" dirty="0"/>
            </a:br>
            <a:br>
              <a:rPr lang="en-US" dirty="0"/>
            </a:br>
            <a:r>
              <a:rPr lang="en-US" dirty="0"/>
              <a:t>Then we’ll investigate AI in nuclear physics research.</a:t>
            </a:r>
          </a:p>
          <a:p>
            <a:endParaRPr lang="en-US" dirty="0"/>
          </a:p>
          <a:p>
            <a:r>
              <a:rPr lang="en-US" dirty="0"/>
              <a:t>After words we’ll look at a computational model to simulate a large variety of problems.</a:t>
            </a:r>
          </a:p>
          <a:p>
            <a:endParaRPr lang="en-US" dirty="0"/>
          </a:p>
          <a:p>
            <a:r>
              <a:rPr lang="en-US" dirty="0"/>
              <a:t>The key points found in my research, scope of my research, and where it’s headed?</a:t>
            </a:r>
          </a:p>
        </p:txBody>
      </p:sp>
      <p:sp>
        <p:nvSpPr>
          <p:cNvPr id="4" name="Slide Number Placeholder 3"/>
          <p:cNvSpPr>
            <a:spLocks noGrp="1"/>
          </p:cNvSpPr>
          <p:nvPr>
            <p:ph type="sldNum" sz="quarter" idx="5"/>
          </p:nvPr>
        </p:nvSpPr>
        <p:spPr/>
        <p:txBody>
          <a:bodyPr/>
          <a:lstStyle/>
          <a:p>
            <a:fld id="{DB3F5BA7-69A6-4A7C-9C56-97D702DC4F93}" type="slidenum">
              <a:rPr lang="en-CA" smtClean="0"/>
              <a:t>2</a:t>
            </a:fld>
            <a:endParaRPr lang="en-CA"/>
          </a:p>
        </p:txBody>
      </p:sp>
    </p:spTree>
    <p:extLst>
      <p:ext uri="{BB962C8B-B14F-4D97-AF65-F5344CB8AC3E}">
        <p14:creationId xmlns:p14="http://schemas.microsoft.com/office/powerpoint/2010/main" val="2967254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dissect my topic question for a minute.</a:t>
            </a:r>
            <a:br>
              <a:rPr lang="en-US" dirty="0"/>
            </a:br>
            <a:r>
              <a:rPr lang="en-US" dirty="0"/>
              <a:t>What do I mean by “Computational methods in nuclear physics engineering”.</a:t>
            </a:r>
          </a:p>
          <a:p>
            <a:endParaRPr lang="en-US" dirty="0"/>
          </a:p>
          <a:p>
            <a:r>
              <a:rPr lang="en-CA" dirty="0"/>
              <a:t>To make sense of it I’ll go over key concepts before going into the presentation.</a:t>
            </a:r>
            <a:br>
              <a:rPr lang="en-CA" dirty="0"/>
            </a:br>
            <a:br>
              <a:rPr lang="en-CA" dirty="0"/>
            </a:br>
            <a:r>
              <a:rPr lang="en-CA" dirty="0"/>
              <a:t>So first to answer at a high level, what do I mean by nuclear physics? </a:t>
            </a:r>
            <a:br>
              <a:rPr lang="en-CA" dirty="0"/>
            </a:br>
            <a:r>
              <a:rPr lang="en-CA" dirty="0"/>
              <a:t>Here is a quick overview of the structure of an atom.</a:t>
            </a:r>
            <a:br>
              <a:rPr lang="en-CA" dirty="0"/>
            </a:br>
            <a:br>
              <a:rPr lang="en-CA" dirty="0"/>
            </a:br>
            <a:r>
              <a:rPr lang="en-CA" dirty="0"/>
              <a:t>It has electrons, neutrons, and protons. The center mass of the atom is called the nucleus, and it is composed of protons and neutrons.\</a:t>
            </a:r>
          </a:p>
          <a:p>
            <a:endParaRPr lang="en-CA" dirty="0"/>
          </a:p>
          <a:p>
            <a:r>
              <a:rPr lang="en-CA" dirty="0"/>
              <a:t>Nuclear physics simply refers to the science of the forces that are within the nuclei of atoms</a:t>
            </a:r>
            <a:br>
              <a:rPr lang="en-CA" dirty="0"/>
            </a:br>
            <a:r>
              <a:rPr lang="en-CA" dirty="0"/>
              <a:t>	Quote: “These forces are within the nuclei of the atoms” Feynman lecture series Vol 1 page 12-12</a:t>
            </a:r>
          </a:p>
          <a:p>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3</a:t>
            </a:fld>
            <a:endParaRPr lang="en-CA"/>
          </a:p>
        </p:txBody>
      </p:sp>
    </p:spTree>
    <p:extLst>
      <p:ext uri="{BB962C8B-B14F-4D97-AF65-F5344CB8AC3E}">
        <p14:creationId xmlns:p14="http://schemas.microsoft.com/office/powerpoint/2010/main" val="621182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Depending on how many protons, neutrons, and electrons you have, you’re create different elements. If we add a sufficient amount, you’ll eventually create unstable elements in the form of radioactive elements.</a:t>
            </a:r>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4</a:t>
            </a:fld>
            <a:endParaRPr lang="en-CA"/>
          </a:p>
        </p:txBody>
      </p:sp>
    </p:spTree>
    <p:extLst>
      <p:ext uri="{BB962C8B-B14F-4D97-AF65-F5344CB8AC3E}">
        <p14:creationId xmlns:p14="http://schemas.microsoft.com/office/powerpoint/2010/main" val="1654599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Add animations slowly introducing the images as I reveal the scope</a:t>
            </a:r>
          </a:p>
          <a:p>
            <a:endParaRPr lang="en-US" dirty="0"/>
          </a:p>
          <a:p>
            <a:r>
              <a:rPr lang="en-US" dirty="0"/>
              <a:t>Although dangerous, radioactive elements produces vast amount of energy.</a:t>
            </a:r>
          </a:p>
          <a:p>
            <a:endParaRPr lang="en-US" dirty="0"/>
          </a:p>
          <a:p>
            <a:r>
              <a:rPr lang="en-US" dirty="0"/>
              <a:t>But how does it do that? Put simply, we take radioactive materials and create a series of controlled reactions.</a:t>
            </a:r>
            <a:br>
              <a:rPr lang="en-US" dirty="0"/>
            </a:br>
            <a:br>
              <a:rPr lang="en-US" dirty="0"/>
            </a:br>
            <a:r>
              <a:rPr lang="en-US" dirty="0"/>
              <a:t>Each reactions causes energy in the form of heat, which heats up the water tank creating vapor.</a:t>
            </a:r>
            <a:br>
              <a:rPr lang="en-US" dirty="0"/>
            </a:br>
            <a:br>
              <a:rPr lang="en-US" dirty="0"/>
            </a:br>
            <a:r>
              <a:rPr lang="en-US" dirty="0"/>
              <a:t>The vapor rises and spins a big turbine.</a:t>
            </a:r>
            <a:br>
              <a:rPr lang="en-US" dirty="0"/>
            </a:br>
            <a:br>
              <a:rPr lang="en-US" dirty="0"/>
            </a:br>
            <a:r>
              <a:rPr lang="en-US" dirty="0"/>
              <a:t>-------</a:t>
            </a:r>
            <a:br>
              <a:rPr lang="en-US" dirty="0"/>
            </a:br>
            <a:br>
              <a:rPr lang="en-US" dirty="0"/>
            </a:br>
            <a:r>
              <a:rPr lang="en-US" dirty="0"/>
              <a:t>My research will focus on the computational avenues around the controlled reactions of the radioactive material.</a:t>
            </a:r>
          </a:p>
          <a:p>
            <a:r>
              <a:rPr lang="en-US" dirty="0"/>
              <a:t>My first thought was, “How is it being researched”.</a:t>
            </a:r>
          </a:p>
          <a:p>
            <a:endParaRPr lang="en-US" dirty="0"/>
          </a:p>
          <a:p>
            <a:r>
              <a:rPr lang="en-US" dirty="0"/>
              <a:t>Turns out people are already asking that question, no surprise, but the reality is that we are constantly trying to find new ways to optimize workflow, and nuclear researchers are no different.</a:t>
            </a:r>
          </a:p>
        </p:txBody>
      </p:sp>
      <p:sp>
        <p:nvSpPr>
          <p:cNvPr id="4" name="Slide Number Placeholder 3"/>
          <p:cNvSpPr>
            <a:spLocks noGrp="1"/>
          </p:cNvSpPr>
          <p:nvPr>
            <p:ph type="sldNum" sz="quarter" idx="5"/>
          </p:nvPr>
        </p:nvSpPr>
        <p:spPr/>
        <p:txBody>
          <a:bodyPr/>
          <a:lstStyle/>
          <a:p>
            <a:fld id="{DB3F5BA7-69A6-4A7C-9C56-97D702DC4F93}" type="slidenum">
              <a:rPr lang="en-CA" smtClean="0"/>
              <a:t>5</a:t>
            </a:fld>
            <a:endParaRPr lang="en-CA"/>
          </a:p>
        </p:txBody>
      </p:sp>
    </p:spTree>
    <p:extLst>
      <p:ext uri="{BB962C8B-B14F-4D97-AF65-F5344CB8AC3E}">
        <p14:creationId xmlns:p14="http://schemas.microsoft.com/office/powerpoint/2010/main" val="148973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6</a:t>
            </a:fld>
            <a:endParaRPr lang="en-CA"/>
          </a:p>
        </p:txBody>
      </p:sp>
    </p:spTree>
    <p:extLst>
      <p:ext uri="{BB962C8B-B14F-4D97-AF65-F5344CB8AC3E}">
        <p14:creationId xmlns:p14="http://schemas.microsoft.com/office/powerpoint/2010/main" val="750281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B3F5BA7-69A6-4A7C-9C56-97D702DC4F93}" type="slidenum">
              <a:rPr lang="en-CA" smtClean="0"/>
              <a:t>7</a:t>
            </a:fld>
            <a:endParaRPr lang="en-CA"/>
          </a:p>
        </p:txBody>
      </p:sp>
    </p:spTree>
    <p:extLst>
      <p:ext uri="{BB962C8B-B14F-4D97-AF65-F5344CB8AC3E}">
        <p14:creationId xmlns:p14="http://schemas.microsoft.com/office/powerpoint/2010/main" val="818816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7947F-FE50-B6B5-9C3E-AF1ACA5E04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7B0C0A1B-DD68-2182-C359-CDE31E4DD7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D194BBFA-C678-2888-6C2C-96EABE0118E6}"/>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5" name="Footer Placeholder 4">
            <a:extLst>
              <a:ext uri="{FF2B5EF4-FFF2-40B4-BE49-F238E27FC236}">
                <a16:creationId xmlns:a16="http://schemas.microsoft.com/office/drawing/2014/main" id="{A925F94E-66DA-C5F1-E498-57BBC08FDBD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52AAC23-3EB3-935C-459D-35A6917365F5}"/>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1572173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6B85D-5CC0-3BED-D476-9365871017D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E350D40-FD5F-A080-68F5-0DD62A07E1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3E2A67E-DB9E-B799-A5EF-B3CC79A3C7F2}"/>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5" name="Footer Placeholder 4">
            <a:extLst>
              <a:ext uri="{FF2B5EF4-FFF2-40B4-BE49-F238E27FC236}">
                <a16:creationId xmlns:a16="http://schemas.microsoft.com/office/drawing/2014/main" id="{16E60D9F-B8FE-7820-FB9D-628E1310F9F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9A2C4C1-0111-4FE6-C455-A1508DD2FA95}"/>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663955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AA80B-0937-88A3-FDAD-A50DB2A98B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7F6EA2DC-9EB6-C183-8170-3B7AF2D8D8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ADBF40-1E04-D648-8823-2A8AA217CB0B}"/>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5" name="Footer Placeholder 4">
            <a:extLst>
              <a:ext uri="{FF2B5EF4-FFF2-40B4-BE49-F238E27FC236}">
                <a16:creationId xmlns:a16="http://schemas.microsoft.com/office/drawing/2014/main" id="{2D078229-5B9F-AAE7-19A0-BF4FAEBD183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344E34C-9B2E-49E0-3BF1-B00DEE024EC5}"/>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2559404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9FDF9-E165-4812-220A-46D0AA4A841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EBC307F-85AD-F7F1-279A-736F2DDE99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73016C2-47AC-5038-17FA-C1D91ACB7F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95CAE8D-893A-C046-C9CA-F10446587A64}"/>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6" name="Footer Placeholder 5">
            <a:extLst>
              <a:ext uri="{FF2B5EF4-FFF2-40B4-BE49-F238E27FC236}">
                <a16:creationId xmlns:a16="http://schemas.microsoft.com/office/drawing/2014/main" id="{15F2A20F-93C6-853C-C70E-571D93FD2A6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2B9D24F-0EC0-C233-DB1F-E0AB946B1404}"/>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1512565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C9ACC-F1EB-B80F-826D-43D1463A5B3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5EC260D-DACB-379E-C293-1265D177B1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AE4597-12EC-BEA0-7481-9D3DF5FA84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4014D5A-4F4E-8851-F217-8E7836642E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F871D6-CC23-4DB1-7F3E-E11C1AF94F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31A1D6F-F462-2D91-5F26-0AA10B9984E5}"/>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8" name="Footer Placeholder 7">
            <a:extLst>
              <a:ext uri="{FF2B5EF4-FFF2-40B4-BE49-F238E27FC236}">
                <a16:creationId xmlns:a16="http://schemas.microsoft.com/office/drawing/2014/main" id="{C2A2E12C-6C89-5A01-E071-3AB8F3FA77CF}"/>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9110C46-C6C0-7698-A98D-B8867385DDD6}"/>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3614063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529E8-6B9F-C310-0AA1-7B7D12A3F8A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3934E25-36B3-A4FC-AEB0-85FF4E23E89C}"/>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4" name="Footer Placeholder 3">
            <a:extLst>
              <a:ext uri="{FF2B5EF4-FFF2-40B4-BE49-F238E27FC236}">
                <a16:creationId xmlns:a16="http://schemas.microsoft.com/office/drawing/2014/main" id="{86AEBACF-2219-C07D-7CBD-6EC3669E8D3F}"/>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65D234A2-3A2C-C494-BDB1-768EAD705ABE}"/>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1648976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872B6E-BD88-2911-3D5A-B7D49ECF90F5}"/>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3" name="Footer Placeholder 2">
            <a:extLst>
              <a:ext uri="{FF2B5EF4-FFF2-40B4-BE49-F238E27FC236}">
                <a16:creationId xmlns:a16="http://schemas.microsoft.com/office/drawing/2014/main" id="{5CEB8D22-994B-96AC-25FC-CC98688BCED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60FC372-3370-8D5D-15B0-F6A8D607A335}"/>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1154064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A31FC-AF2D-5F82-3D38-044438CAD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E3B8866-2A11-D3AF-422A-D0594CED26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45D8795E-ACAC-2F4A-C898-22ED78037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A36245-608D-1BCD-A6B0-C95E604F38C1}"/>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6" name="Footer Placeholder 5">
            <a:extLst>
              <a:ext uri="{FF2B5EF4-FFF2-40B4-BE49-F238E27FC236}">
                <a16:creationId xmlns:a16="http://schemas.microsoft.com/office/drawing/2014/main" id="{20C5EF00-68B8-2BBC-3B43-039C83872F4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70A0181-833F-FE19-8922-2ECE5DF64F20}"/>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2792280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7A26E-2B2A-D6FF-4ED6-B5C995972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1583F82-AFF4-7D2D-9609-BB0955BAD3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002471C-2D1B-B1D3-D787-CFC1D1F7DF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F58145-CD24-C7D9-3F78-68CF3A755D7A}"/>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6" name="Footer Placeholder 5">
            <a:extLst>
              <a:ext uri="{FF2B5EF4-FFF2-40B4-BE49-F238E27FC236}">
                <a16:creationId xmlns:a16="http://schemas.microsoft.com/office/drawing/2014/main" id="{EC92EB7B-EF79-F0D0-8079-2ED5C151E64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6BD7DB2-FB10-70AC-F758-E5716DAE0326}"/>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3793535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5444F-AD81-384E-C1C3-DFFC6C2390E6}"/>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42D0211-CEE5-95E9-5FF7-524288AEF1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C6FABAC-B9B0-AB94-F6CB-6E07F8FB6DCB}"/>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5" name="Footer Placeholder 4">
            <a:extLst>
              <a:ext uri="{FF2B5EF4-FFF2-40B4-BE49-F238E27FC236}">
                <a16:creationId xmlns:a16="http://schemas.microsoft.com/office/drawing/2014/main" id="{4FAB4E05-7455-551D-4DBC-378BCB950CB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A34294F-26AF-DD77-6574-D6D7E589C48C}"/>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4013475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454B92-2D23-BFFD-6F97-6D500E70D9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AB37023-1035-93DB-0AD0-DC1BC8D9CF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84BF89F-93EE-FE33-F37C-65E23202A349}"/>
              </a:ext>
            </a:extLst>
          </p:cNvPr>
          <p:cNvSpPr>
            <a:spLocks noGrp="1"/>
          </p:cNvSpPr>
          <p:nvPr>
            <p:ph type="dt" sz="half" idx="10"/>
          </p:nvPr>
        </p:nvSpPr>
        <p:spPr/>
        <p:txBody>
          <a:bodyPr/>
          <a:lstStyle/>
          <a:p>
            <a:fld id="{09FF8A6A-D92C-4685-8394-A50FFF47B535}" type="datetimeFigureOut">
              <a:rPr lang="en-CA" smtClean="0"/>
              <a:t>2025-12-08</a:t>
            </a:fld>
            <a:endParaRPr lang="en-CA"/>
          </a:p>
        </p:txBody>
      </p:sp>
      <p:sp>
        <p:nvSpPr>
          <p:cNvPr id="5" name="Footer Placeholder 4">
            <a:extLst>
              <a:ext uri="{FF2B5EF4-FFF2-40B4-BE49-F238E27FC236}">
                <a16:creationId xmlns:a16="http://schemas.microsoft.com/office/drawing/2014/main" id="{0CC132E2-F211-294D-9638-C537CF0D60B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E9D513D-3531-9CB7-BFFE-082B0EB43B3F}"/>
              </a:ext>
            </a:extLst>
          </p:cNvPr>
          <p:cNvSpPr>
            <a:spLocks noGrp="1"/>
          </p:cNvSpPr>
          <p:nvPr>
            <p:ph type="sldNum" sz="quarter" idx="12"/>
          </p:nvPr>
        </p:nvSpPr>
        <p:spPr/>
        <p:txBody>
          <a:bodyPr/>
          <a:lstStyle/>
          <a:p>
            <a:fld id="{7AF86C79-2808-4DBC-9943-11581068E7E4}" type="slidenum">
              <a:rPr lang="en-CA" smtClean="0"/>
              <a:t>‹#›</a:t>
            </a:fld>
            <a:endParaRPr lang="en-CA"/>
          </a:p>
        </p:txBody>
      </p:sp>
    </p:spTree>
    <p:extLst>
      <p:ext uri="{BB962C8B-B14F-4D97-AF65-F5344CB8AC3E}">
        <p14:creationId xmlns:p14="http://schemas.microsoft.com/office/powerpoint/2010/main" val="2079136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CF4369-A3BC-4E7C-B283-E6EF64676B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BC163CC-870B-9668-2A07-DCA47ABAFC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C4CF04E-733A-201C-BD21-AC291887D0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FF8A6A-D92C-4685-8394-A50FFF47B535}" type="datetimeFigureOut">
              <a:rPr lang="en-CA" smtClean="0"/>
              <a:t>2025-12-08</a:t>
            </a:fld>
            <a:endParaRPr lang="en-CA"/>
          </a:p>
        </p:txBody>
      </p:sp>
      <p:sp>
        <p:nvSpPr>
          <p:cNvPr id="5" name="Footer Placeholder 4">
            <a:extLst>
              <a:ext uri="{FF2B5EF4-FFF2-40B4-BE49-F238E27FC236}">
                <a16:creationId xmlns:a16="http://schemas.microsoft.com/office/drawing/2014/main" id="{FA9CF9F8-8694-C773-7A88-DDA420A3D5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9942BA81-2A7F-21A0-04ED-90D65972E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F86C79-2808-4DBC-9943-11581068E7E4}" type="slidenum">
              <a:rPr lang="en-CA" smtClean="0"/>
              <a:t>‹#›</a:t>
            </a:fld>
            <a:endParaRPr lang="en-CA"/>
          </a:p>
        </p:txBody>
      </p:sp>
    </p:spTree>
    <p:extLst>
      <p:ext uri="{BB962C8B-B14F-4D97-AF65-F5344CB8AC3E}">
        <p14:creationId xmlns:p14="http://schemas.microsoft.com/office/powerpoint/2010/main" val="1342047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FDDDF4-4B80-D3C1-F4CA-520C2A7D9538}"/>
              </a:ext>
            </a:extLst>
          </p:cNvPr>
          <p:cNvSpPr>
            <a:spLocks noGrp="1"/>
          </p:cNvSpPr>
          <p:nvPr>
            <p:ph type="ctrTitle"/>
          </p:nvPr>
        </p:nvSpPr>
        <p:spPr>
          <a:xfrm>
            <a:off x="838200" y="451381"/>
            <a:ext cx="10512552" cy="4066540"/>
          </a:xfrm>
        </p:spPr>
        <p:txBody>
          <a:bodyPr anchor="b">
            <a:normAutofit/>
          </a:bodyPr>
          <a:lstStyle/>
          <a:p>
            <a:pPr algn="l"/>
            <a:r>
              <a:rPr lang="en-CA" sz="6600"/>
              <a:t>What are the modern computational techniques employed for nuclear physics engineering?</a:t>
            </a:r>
          </a:p>
        </p:txBody>
      </p:sp>
      <p:sp>
        <p:nvSpPr>
          <p:cNvPr id="3" name="Subtitle 2">
            <a:extLst>
              <a:ext uri="{FF2B5EF4-FFF2-40B4-BE49-F238E27FC236}">
                <a16:creationId xmlns:a16="http://schemas.microsoft.com/office/drawing/2014/main" id="{65BF105C-4551-3206-B997-95344A072784}"/>
              </a:ext>
            </a:extLst>
          </p:cNvPr>
          <p:cNvSpPr>
            <a:spLocks noGrp="1"/>
          </p:cNvSpPr>
          <p:nvPr>
            <p:ph type="subTitle" idx="1"/>
          </p:nvPr>
        </p:nvSpPr>
        <p:spPr>
          <a:xfrm>
            <a:off x="838199" y="4983276"/>
            <a:ext cx="10512552" cy="1126680"/>
          </a:xfrm>
        </p:spPr>
        <p:txBody>
          <a:bodyPr>
            <a:normAutofit/>
          </a:bodyPr>
          <a:lstStyle/>
          <a:p>
            <a:pPr algn="l"/>
            <a:r>
              <a:rPr lang="en-US" dirty="0"/>
              <a:t>By: Avery Vallée-Vézina</a:t>
            </a:r>
            <a:endParaRPr lang="en-CA"/>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4545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481A6-4012-C323-D56C-1891B4237DB8}"/>
              </a:ext>
            </a:extLst>
          </p:cNvPr>
          <p:cNvSpPr>
            <a:spLocks noGrp="1"/>
          </p:cNvSpPr>
          <p:nvPr>
            <p:ph type="title"/>
          </p:nvPr>
        </p:nvSpPr>
        <p:spPr>
          <a:xfrm>
            <a:off x="841248" y="548640"/>
            <a:ext cx="3600860" cy="5431536"/>
          </a:xfrm>
        </p:spPr>
        <p:txBody>
          <a:bodyPr>
            <a:normAutofit/>
          </a:bodyPr>
          <a:lstStyle/>
          <a:p>
            <a:r>
              <a:rPr lang="en-US" sz="5400"/>
              <a:t>Agenda</a:t>
            </a:r>
            <a:endParaRPr lang="en-CA" sz="54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586AAA-2647-4F34-957A-72277A2B3B46}"/>
              </a:ext>
            </a:extLst>
          </p:cNvPr>
          <p:cNvSpPr>
            <a:spLocks noGrp="1"/>
          </p:cNvSpPr>
          <p:nvPr>
            <p:ph idx="1"/>
          </p:nvPr>
        </p:nvSpPr>
        <p:spPr>
          <a:xfrm>
            <a:off x="5126418" y="552091"/>
            <a:ext cx="6224335" cy="5431536"/>
          </a:xfrm>
        </p:spPr>
        <p:txBody>
          <a:bodyPr anchor="ctr">
            <a:normAutofit/>
          </a:bodyPr>
          <a:lstStyle/>
          <a:p>
            <a:r>
              <a:rPr lang="en-US" sz="2200" b="1" u="sng" dirty="0"/>
              <a:t>Introduction:</a:t>
            </a:r>
            <a:endParaRPr lang="en-CA" sz="2200" b="1" u="sng" dirty="0"/>
          </a:p>
          <a:p>
            <a:pPr lvl="1"/>
            <a:r>
              <a:rPr lang="en-CA" sz="2200" dirty="0"/>
              <a:t>Overview of the physics required for understanding the further sections</a:t>
            </a:r>
          </a:p>
          <a:p>
            <a:r>
              <a:rPr lang="en-CA" sz="2200" b="1" u="sng" dirty="0"/>
              <a:t>Sections 1:</a:t>
            </a:r>
          </a:p>
          <a:p>
            <a:pPr lvl="1"/>
            <a:r>
              <a:rPr lang="en-CA" sz="2200" dirty="0"/>
              <a:t>LLMs in nuclear physics research</a:t>
            </a:r>
          </a:p>
          <a:p>
            <a:r>
              <a:rPr lang="en-CA" sz="2200" b="1" u="sng" dirty="0"/>
              <a:t>Section 2:</a:t>
            </a:r>
          </a:p>
          <a:p>
            <a:pPr lvl="1"/>
            <a:r>
              <a:rPr lang="en-CA" sz="2200" dirty="0"/>
              <a:t>Use case of computational models</a:t>
            </a:r>
          </a:p>
          <a:p>
            <a:r>
              <a:rPr lang="en-CA" sz="2200" b="1" u="sng" dirty="0"/>
              <a:t>Conclusion:</a:t>
            </a:r>
          </a:p>
          <a:p>
            <a:pPr lvl="1"/>
            <a:r>
              <a:rPr lang="en-US" sz="2200" dirty="0"/>
              <a:t>Overview of key findings, scope of my research, and where it’s headed.</a:t>
            </a:r>
          </a:p>
        </p:txBody>
      </p:sp>
    </p:spTree>
    <p:extLst>
      <p:ext uri="{BB962C8B-B14F-4D97-AF65-F5344CB8AC3E}">
        <p14:creationId xmlns:p14="http://schemas.microsoft.com/office/powerpoint/2010/main" val="820903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94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94AE9D-9BAA-4CCB-DF2C-F0D4A508B9F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Introduction</a:t>
            </a:r>
            <a:br>
              <a:rPr lang="en-US" sz="2600" kern="1200">
                <a:solidFill>
                  <a:srgbClr val="FFFFFF"/>
                </a:solidFill>
                <a:latin typeface="+mj-lt"/>
                <a:ea typeface="+mj-ea"/>
                <a:cs typeface="+mj-cs"/>
              </a:rPr>
            </a:br>
            <a:r>
              <a:rPr lang="en-US" sz="2600" kern="1200">
                <a:solidFill>
                  <a:srgbClr val="FFFFFF"/>
                </a:solidFill>
                <a:latin typeface="+mj-lt"/>
                <a:ea typeface="+mj-ea"/>
                <a:cs typeface="+mj-cs"/>
              </a:rPr>
              <a:t>Dissecting my topic question (Revisit)</a:t>
            </a:r>
          </a:p>
        </p:txBody>
      </p:sp>
      <p:pic>
        <p:nvPicPr>
          <p:cNvPr id="13" name="Picture 12">
            <a:extLst>
              <a:ext uri="{FF2B5EF4-FFF2-40B4-BE49-F238E27FC236}">
                <a16:creationId xmlns:a16="http://schemas.microsoft.com/office/drawing/2014/main" id="{2DFC8A93-A8E8-E525-13D9-92BBA0B2AAD7}"/>
              </a:ext>
            </a:extLst>
          </p:cNvPr>
          <p:cNvPicPr>
            <a:picLocks noChangeAspect="1"/>
          </p:cNvPicPr>
          <p:nvPr/>
        </p:nvPicPr>
        <p:blipFill>
          <a:blip r:embed="rId3"/>
          <a:stretch>
            <a:fillRect/>
          </a:stretch>
        </p:blipFill>
        <p:spPr>
          <a:xfrm>
            <a:off x="4635138" y="961812"/>
            <a:ext cx="5995122" cy="4930987"/>
          </a:xfrm>
          <a:prstGeom prst="rect">
            <a:avLst/>
          </a:prstGeom>
        </p:spPr>
      </p:pic>
    </p:spTree>
    <p:extLst>
      <p:ext uri="{BB962C8B-B14F-4D97-AF65-F5344CB8AC3E}">
        <p14:creationId xmlns:p14="http://schemas.microsoft.com/office/powerpoint/2010/main" val="1127874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A3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agram of a diagram of a molecule&#10;&#10;AI-generated content may be incorrect.">
            <a:extLst>
              <a:ext uri="{FF2B5EF4-FFF2-40B4-BE49-F238E27FC236}">
                <a16:creationId xmlns:a16="http://schemas.microsoft.com/office/drawing/2014/main" id="{47081D29-CE3E-0E55-AF9A-AD2291F40E7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53943" y="643467"/>
            <a:ext cx="8284113" cy="5571066"/>
          </a:xfrm>
          <a:prstGeom prst="rect">
            <a:avLst/>
          </a:prstGeom>
        </p:spPr>
      </p:pic>
    </p:spTree>
    <p:extLst>
      <p:ext uri="{BB962C8B-B14F-4D97-AF65-F5344CB8AC3E}">
        <p14:creationId xmlns:p14="http://schemas.microsoft.com/office/powerpoint/2010/main" val="798377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486CA-B432-09AA-8A28-707692048D1E}"/>
              </a:ext>
            </a:extLst>
          </p:cNvPr>
          <p:cNvSpPr>
            <a:spLocks noGrp="1"/>
          </p:cNvSpPr>
          <p:nvPr>
            <p:ph type="title"/>
          </p:nvPr>
        </p:nvSpPr>
        <p:spPr/>
        <p:txBody>
          <a:bodyPr/>
          <a:lstStyle/>
          <a:p>
            <a:r>
              <a:rPr lang="en-US" dirty="0"/>
              <a:t>Introduction</a:t>
            </a:r>
            <a:br>
              <a:rPr lang="en-US" dirty="0"/>
            </a:br>
            <a:r>
              <a:rPr lang="en-US" dirty="0"/>
              <a:t>Scope of my research</a:t>
            </a:r>
            <a:endParaRPr lang="en-CA" dirty="0"/>
          </a:p>
        </p:txBody>
      </p:sp>
      <p:pic>
        <p:nvPicPr>
          <p:cNvPr id="5" name="Content Placeholder 4">
            <a:extLst>
              <a:ext uri="{FF2B5EF4-FFF2-40B4-BE49-F238E27FC236}">
                <a16:creationId xmlns:a16="http://schemas.microsoft.com/office/drawing/2014/main" id="{77207A2F-2108-A86B-EC11-3A38A90EC464}"/>
              </a:ext>
            </a:extLst>
          </p:cNvPr>
          <p:cNvPicPr>
            <a:picLocks noGrp="1" noChangeAspect="1"/>
          </p:cNvPicPr>
          <p:nvPr>
            <p:ph idx="1"/>
          </p:nvPr>
        </p:nvPicPr>
        <p:blipFill>
          <a:blip r:embed="rId3"/>
          <a:stretch>
            <a:fillRect/>
          </a:stretch>
        </p:blipFill>
        <p:spPr>
          <a:xfrm flipH="1">
            <a:off x="6806313" y="3628899"/>
            <a:ext cx="2705100" cy="2627566"/>
          </a:xfrm>
          <a:prstGeom prst="rect">
            <a:avLst/>
          </a:prstGeom>
        </p:spPr>
      </p:pic>
      <p:pic>
        <p:nvPicPr>
          <p:cNvPr id="11" name="Picture 10">
            <a:extLst>
              <a:ext uri="{FF2B5EF4-FFF2-40B4-BE49-F238E27FC236}">
                <a16:creationId xmlns:a16="http://schemas.microsoft.com/office/drawing/2014/main" id="{C92E90A0-D44E-EE9E-C5DD-602F100710FA}"/>
              </a:ext>
            </a:extLst>
          </p:cNvPr>
          <p:cNvPicPr>
            <a:picLocks noChangeAspect="1"/>
          </p:cNvPicPr>
          <p:nvPr/>
        </p:nvPicPr>
        <p:blipFill>
          <a:blip r:embed="rId4"/>
          <a:stretch>
            <a:fillRect/>
          </a:stretch>
        </p:blipFill>
        <p:spPr>
          <a:xfrm>
            <a:off x="838200" y="4276726"/>
            <a:ext cx="4610100" cy="2305050"/>
          </a:xfrm>
          <a:prstGeom prst="rect">
            <a:avLst/>
          </a:prstGeom>
        </p:spPr>
      </p:pic>
      <p:pic>
        <p:nvPicPr>
          <p:cNvPr id="9" name="Picture 8">
            <a:extLst>
              <a:ext uri="{FF2B5EF4-FFF2-40B4-BE49-F238E27FC236}">
                <a16:creationId xmlns:a16="http://schemas.microsoft.com/office/drawing/2014/main" id="{19C5AC1C-10E1-6774-6BD3-9EB063BD7B79}"/>
              </a:ext>
            </a:extLst>
          </p:cNvPr>
          <p:cNvPicPr>
            <a:picLocks noChangeAspect="1"/>
          </p:cNvPicPr>
          <p:nvPr/>
        </p:nvPicPr>
        <p:blipFill>
          <a:blip r:embed="rId5"/>
          <a:stretch>
            <a:fillRect/>
          </a:stretch>
        </p:blipFill>
        <p:spPr>
          <a:xfrm>
            <a:off x="2196213" y="2486025"/>
            <a:ext cx="1894074" cy="1790701"/>
          </a:xfrm>
          <a:prstGeom prst="rect">
            <a:avLst/>
          </a:prstGeom>
        </p:spPr>
      </p:pic>
    </p:spTree>
    <p:extLst>
      <p:ext uri="{BB962C8B-B14F-4D97-AF65-F5344CB8AC3E}">
        <p14:creationId xmlns:p14="http://schemas.microsoft.com/office/powerpoint/2010/main" val="2155279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098E2-68D6-C943-AAD7-09A6BE9C2EF6}"/>
              </a:ext>
            </a:extLst>
          </p:cNvPr>
          <p:cNvSpPr>
            <a:spLocks noGrp="1"/>
          </p:cNvSpPr>
          <p:nvPr>
            <p:ph type="title"/>
          </p:nvPr>
        </p:nvSpPr>
        <p:spPr/>
        <p:txBody>
          <a:bodyPr>
            <a:normAutofit fontScale="90000"/>
          </a:bodyPr>
          <a:lstStyle/>
          <a:p>
            <a:r>
              <a:rPr lang="en-US" dirty="0"/>
              <a:t>Section 1</a:t>
            </a:r>
            <a:br>
              <a:rPr lang="en-US" dirty="0"/>
            </a:br>
            <a:r>
              <a:rPr lang="en-US" sz="4000" dirty="0"/>
              <a:t>Large Language Models in nuclear physics research</a:t>
            </a:r>
            <a:endParaRPr lang="en-CA" dirty="0"/>
          </a:p>
        </p:txBody>
      </p:sp>
      <p:sp>
        <p:nvSpPr>
          <p:cNvPr id="3" name="Content Placeholder 2">
            <a:extLst>
              <a:ext uri="{FF2B5EF4-FFF2-40B4-BE49-F238E27FC236}">
                <a16:creationId xmlns:a16="http://schemas.microsoft.com/office/drawing/2014/main" id="{1F4DB171-2070-4240-0295-868D160A39C4}"/>
              </a:ext>
            </a:extLst>
          </p:cNvPr>
          <p:cNvSpPr>
            <a:spLocks noGrp="1"/>
          </p:cNvSpPr>
          <p:nvPr>
            <p:ph idx="1"/>
          </p:nvPr>
        </p:nvSpPr>
        <p:spPr/>
        <p:txBody>
          <a:bodyPr/>
          <a:lstStyle/>
          <a:p>
            <a:endParaRPr lang="en-CA" dirty="0"/>
          </a:p>
        </p:txBody>
      </p:sp>
    </p:spTree>
    <p:extLst>
      <p:ext uri="{BB962C8B-B14F-4D97-AF65-F5344CB8AC3E}">
        <p14:creationId xmlns:p14="http://schemas.microsoft.com/office/powerpoint/2010/main" val="3350125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DD81B-8687-9C90-213D-C74AB6A44094}"/>
              </a:ext>
            </a:extLst>
          </p:cNvPr>
          <p:cNvSpPr>
            <a:spLocks noGrp="1"/>
          </p:cNvSpPr>
          <p:nvPr>
            <p:ph type="title"/>
          </p:nvPr>
        </p:nvSpPr>
        <p:spPr/>
        <p:txBody>
          <a:bodyPr/>
          <a:lstStyle/>
          <a:p>
            <a:r>
              <a:rPr lang="en-US" dirty="0"/>
              <a:t>Section 2</a:t>
            </a:r>
            <a:br>
              <a:rPr lang="en-US" dirty="0"/>
            </a:br>
            <a:r>
              <a:rPr lang="en-US" dirty="0"/>
              <a:t>Monte Carlos Simulations</a:t>
            </a:r>
            <a:endParaRPr lang="en-CA" dirty="0"/>
          </a:p>
        </p:txBody>
      </p:sp>
      <p:sp>
        <p:nvSpPr>
          <p:cNvPr id="3" name="Content Placeholder 2">
            <a:extLst>
              <a:ext uri="{FF2B5EF4-FFF2-40B4-BE49-F238E27FC236}">
                <a16:creationId xmlns:a16="http://schemas.microsoft.com/office/drawing/2014/main" id="{DD7FB564-ED8D-0BBC-0E56-40FBF5360262}"/>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4239082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B3C2B-D432-11B2-7A6F-610B1740BF10}"/>
              </a:ext>
            </a:extLst>
          </p:cNvPr>
          <p:cNvSpPr>
            <a:spLocks noGrp="1"/>
          </p:cNvSpPr>
          <p:nvPr>
            <p:ph type="title"/>
          </p:nvPr>
        </p:nvSpPr>
        <p:spPr/>
        <p:txBody>
          <a:bodyPr/>
          <a:lstStyle/>
          <a:p>
            <a:r>
              <a:rPr lang="en-US" dirty="0"/>
              <a:t>Conclusion</a:t>
            </a:r>
            <a:endParaRPr lang="en-CA" dirty="0"/>
          </a:p>
        </p:txBody>
      </p:sp>
      <p:sp>
        <p:nvSpPr>
          <p:cNvPr id="3" name="Content Placeholder 2">
            <a:extLst>
              <a:ext uri="{FF2B5EF4-FFF2-40B4-BE49-F238E27FC236}">
                <a16:creationId xmlns:a16="http://schemas.microsoft.com/office/drawing/2014/main" id="{6FCFF0EC-F55F-9B86-5528-F2C4D4C59611}"/>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296923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TotalTime>
  <Words>542</Words>
  <Application>Microsoft Office PowerPoint</Application>
  <PresentationFormat>Widescreen</PresentationFormat>
  <Paragraphs>45</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What are the modern computational techniques employed for nuclear physics engineering?</vt:lpstr>
      <vt:lpstr>Agenda</vt:lpstr>
      <vt:lpstr>Introduction Dissecting my topic question (Revisit)</vt:lpstr>
      <vt:lpstr>PowerPoint Presentation</vt:lpstr>
      <vt:lpstr>Introduction Scope of my research</vt:lpstr>
      <vt:lpstr>Section 1 Large Language Models in nuclear physics research</vt:lpstr>
      <vt:lpstr>Section 2 Monte Carlos Simulations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Vallée-Vézina, Avery</dc:creator>
  <cp:lastModifiedBy>Vallée-Vézina, Avery</cp:lastModifiedBy>
  <cp:revision>7</cp:revision>
  <dcterms:created xsi:type="dcterms:W3CDTF">2025-12-05T15:37:42Z</dcterms:created>
  <dcterms:modified xsi:type="dcterms:W3CDTF">2025-12-08T05:54:21Z</dcterms:modified>
</cp:coreProperties>
</file>