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9" r:id="rId3"/>
    <p:sldId id="260" r:id="rId4"/>
    <p:sldId id="261" r:id="rId5"/>
    <p:sldId id="262" r:id="rId6"/>
    <p:sldId id="263" r:id="rId7"/>
    <p:sldId id="267" r:id="rId8"/>
    <p:sldId id="268" r:id="rId9"/>
    <p:sldId id="269"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B4CFD3-9F80-4040-8DD1-EF32F7B7F3CD}">
          <p14:sldIdLst>
            <p14:sldId id="256"/>
            <p14:sldId id="259"/>
          </p14:sldIdLst>
        </p14:section>
        <p14:section name="Introduction" id="{DD723872-36CD-46DC-B135-F415090163AB}">
          <p14:sldIdLst>
            <p14:sldId id="260"/>
            <p14:sldId id="261"/>
            <p14:sldId id="262"/>
          </p14:sldIdLst>
        </p14:section>
        <p14:section name="Section 1" id="{DF8EA5B0-5A53-45D0-ADE4-13D0E54B7777}">
          <p14:sldIdLst>
            <p14:sldId id="263"/>
            <p14:sldId id="267"/>
            <p14:sldId id="268"/>
            <p14:sldId id="269"/>
          </p14:sldIdLst>
        </p14:section>
        <p14:section name="Section 2" id="{C704282B-DF1A-4FF6-BAAC-A9DF6990E4BB}">
          <p14:sldIdLst>
            <p14:sldId id="265"/>
          </p14:sldIdLst>
        </p14:section>
        <p14:section name="Conclusion" id="{45E8FE40-1590-438D-A7CA-4F2A3840D5ED}">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3390" autoAdjust="0"/>
  </p:normalViewPr>
  <p:slideViewPr>
    <p:cSldViewPr snapToGrid="0">
      <p:cViewPr varScale="1">
        <p:scale>
          <a:sx n="70" d="100"/>
          <a:sy n="70" d="100"/>
        </p:scale>
        <p:origin x="2154" y="6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B26075-0E3F-4F14-AB9F-9E512A2EFFAA}" type="doc">
      <dgm:prSet loTypeId="urn:microsoft.com/office/officeart/2018/2/layout/IconVerticalSolidList" loCatId="icon" qsTypeId="urn:microsoft.com/office/officeart/2005/8/quickstyle/simple1" qsCatId="simple" csTypeId="urn:microsoft.com/office/officeart/2018/5/colors/Iconchunking_neutralbg_accent2_2" csCatId="accent2" phldr="1"/>
      <dgm:spPr/>
      <dgm:t>
        <a:bodyPr/>
        <a:lstStyle/>
        <a:p>
          <a:endParaRPr lang="en-US"/>
        </a:p>
      </dgm:t>
    </dgm:pt>
    <dgm:pt modelId="{8AF6A61D-EC40-4D8C-A87A-BEC111681434}">
      <dgm:prSet/>
      <dgm:spPr/>
      <dgm:t>
        <a:bodyPr/>
        <a:lstStyle/>
        <a:p>
          <a:pPr>
            <a:lnSpc>
              <a:spcPct val="100000"/>
            </a:lnSpc>
          </a:pPr>
          <a:r>
            <a:rPr lang="en-CA"/>
            <a:t>How are LLM’s useful in nuclear research?</a:t>
          </a:r>
          <a:endParaRPr lang="en-US"/>
        </a:p>
      </dgm:t>
    </dgm:pt>
    <dgm:pt modelId="{51902754-50AB-4D8A-80D9-FBC39526DEB8}" type="parTrans" cxnId="{DBBE026B-7FDF-4703-9937-80C692DE9CF0}">
      <dgm:prSet/>
      <dgm:spPr/>
      <dgm:t>
        <a:bodyPr/>
        <a:lstStyle/>
        <a:p>
          <a:endParaRPr lang="en-US"/>
        </a:p>
      </dgm:t>
    </dgm:pt>
    <dgm:pt modelId="{4DC59231-387B-400F-8C37-EA99984E47A8}" type="sibTrans" cxnId="{DBBE026B-7FDF-4703-9937-80C692DE9CF0}">
      <dgm:prSet/>
      <dgm:spPr/>
      <dgm:t>
        <a:bodyPr/>
        <a:lstStyle/>
        <a:p>
          <a:endParaRPr lang="en-US"/>
        </a:p>
      </dgm:t>
    </dgm:pt>
    <dgm:pt modelId="{67866619-EE8D-4BA2-9621-6A247C0FB9A6}">
      <dgm:prSet/>
      <dgm:spPr/>
      <dgm:t>
        <a:bodyPr/>
        <a:lstStyle/>
        <a:p>
          <a:pPr>
            <a:lnSpc>
              <a:spcPct val="100000"/>
            </a:lnSpc>
          </a:pPr>
          <a:r>
            <a:rPr lang="en-CA"/>
            <a:t>What limitations did they face?</a:t>
          </a:r>
          <a:endParaRPr lang="en-US"/>
        </a:p>
      </dgm:t>
    </dgm:pt>
    <dgm:pt modelId="{8043AAA8-0B18-459B-8569-90A8B0994940}" type="parTrans" cxnId="{CC1EFC71-DE79-4AA2-AAC0-197EEFA03B1A}">
      <dgm:prSet/>
      <dgm:spPr/>
      <dgm:t>
        <a:bodyPr/>
        <a:lstStyle/>
        <a:p>
          <a:endParaRPr lang="en-US"/>
        </a:p>
      </dgm:t>
    </dgm:pt>
    <dgm:pt modelId="{EEF74F49-AC8E-4A65-8868-F12D0BCA1B44}" type="sibTrans" cxnId="{CC1EFC71-DE79-4AA2-AAC0-197EEFA03B1A}">
      <dgm:prSet/>
      <dgm:spPr/>
      <dgm:t>
        <a:bodyPr/>
        <a:lstStyle/>
        <a:p>
          <a:endParaRPr lang="en-US"/>
        </a:p>
      </dgm:t>
    </dgm:pt>
    <dgm:pt modelId="{56A1115F-0561-4C26-BD83-96F820F77E3B}">
      <dgm:prSet/>
      <dgm:spPr/>
      <dgm:t>
        <a:bodyPr/>
        <a:lstStyle/>
        <a:p>
          <a:pPr>
            <a:lnSpc>
              <a:spcPct val="100000"/>
            </a:lnSpc>
          </a:pPr>
          <a:r>
            <a:rPr lang="en-CA"/>
            <a:t>How relevant is LLM to nuclear energy research as a whole?</a:t>
          </a:r>
          <a:endParaRPr lang="en-US"/>
        </a:p>
      </dgm:t>
    </dgm:pt>
    <dgm:pt modelId="{18C9F069-C8D7-43BE-99D6-09B29E02E660}" type="parTrans" cxnId="{15C26E93-FC1D-429C-B2CA-7581F837B571}">
      <dgm:prSet/>
      <dgm:spPr/>
      <dgm:t>
        <a:bodyPr/>
        <a:lstStyle/>
        <a:p>
          <a:endParaRPr lang="en-US"/>
        </a:p>
      </dgm:t>
    </dgm:pt>
    <dgm:pt modelId="{6D005BCB-341D-4AF2-BB13-F0B5408EC941}" type="sibTrans" cxnId="{15C26E93-FC1D-429C-B2CA-7581F837B571}">
      <dgm:prSet/>
      <dgm:spPr/>
      <dgm:t>
        <a:bodyPr/>
        <a:lstStyle/>
        <a:p>
          <a:endParaRPr lang="en-US"/>
        </a:p>
      </dgm:t>
    </dgm:pt>
    <dgm:pt modelId="{8B6A7642-C643-4A0E-9B12-98B489F4A4C0}" type="pres">
      <dgm:prSet presAssocID="{C9B26075-0E3F-4F14-AB9F-9E512A2EFFAA}" presName="root" presStyleCnt="0">
        <dgm:presLayoutVars>
          <dgm:dir/>
          <dgm:resizeHandles val="exact"/>
        </dgm:presLayoutVars>
      </dgm:prSet>
      <dgm:spPr/>
    </dgm:pt>
    <dgm:pt modelId="{BE1875B7-2F81-416E-966B-C70D17801FE8}" type="pres">
      <dgm:prSet presAssocID="{8AF6A61D-EC40-4D8C-A87A-BEC111681434}" presName="compNode" presStyleCnt="0"/>
      <dgm:spPr/>
    </dgm:pt>
    <dgm:pt modelId="{82035E1E-4A72-4FAA-AABB-DD188FF5B52D}" type="pres">
      <dgm:prSet presAssocID="{8AF6A61D-EC40-4D8C-A87A-BEC111681434}" presName="bgRect" presStyleLbl="bgShp" presStyleIdx="0" presStyleCnt="3"/>
      <dgm:spPr/>
    </dgm:pt>
    <dgm:pt modelId="{6B737960-4FAF-428E-A3D6-C5B6178D40D5}" type="pres">
      <dgm:prSet presAssocID="{8AF6A61D-EC40-4D8C-A87A-BEC11168143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tom"/>
        </a:ext>
      </dgm:extLst>
    </dgm:pt>
    <dgm:pt modelId="{A8BF5A98-76F3-4019-85B6-0699E6121689}" type="pres">
      <dgm:prSet presAssocID="{8AF6A61D-EC40-4D8C-A87A-BEC111681434}" presName="spaceRect" presStyleCnt="0"/>
      <dgm:spPr/>
    </dgm:pt>
    <dgm:pt modelId="{C5AB9C06-C5B6-4F65-A760-E08F56A8FBF8}" type="pres">
      <dgm:prSet presAssocID="{8AF6A61D-EC40-4D8C-A87A-BEC111681434}" presName="parTx" presStyleLbl="revTx" presStyleIdx="0" presStyleCnt="3">
        <dgm:presLayoutVars>
          <dgm:chMax val="0"/>
          <dgm:chPref val="0"/>
        </dgm:presLayoutVars>
      </dgm:prSet>
      <dgm:spPr/>
    </dgm:pt>
    <dgm:pt modelId="{481FA969-F6C5-4FA1-8A30-6EFF3BBF7AE4}" type="pres">
      <dgm:prSet presAssocID="{4DC59231-387B-400F-8C37-EA99984E47A8}" presName="sibTrans" presStyleCnt="0"/>
      <dgm:spPr/>
    </dgm:pt>
    <dgm:pt modelId="{D3349623-A45A-42DC-8AC7-EC43F91876F1}" type="pres">
      <dgm:prSet presAssocID="{67866619-EE8D-4BA2-9621-6A247C0FB9A6}" presName="compNode" presStyleCnt="0"/>
      <dgm:spPr/>
    </dgm:pt>
    <dgm:pt modelId="{5DD823DA-B924-4C7E-AE2B-F690D272E00D}" type="pres">
      <dgm:prSet presAssocID="{67866619-EE8D-4BA2-9621-6A247C0FB9A6}" presName="bgRect" presStyleLbl="bgShp" presStyleIdx="1" presStyleCnt="3"/>
      <dgm:spPr/>
    </dgm:pt>
    <dgm:pt modelId="{FDE72C83-0678-4D88-8A38-B83BC87E5284}" type="pres">
      <dgm:prSet presAssocID="{67866619-EE8D-4BA2-9621-6A247C0FB9A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3C6914CF-4BAE-4840-9E05-1987DCC53727}" type="pres">
      <dgm:prSet presAssocID="{67866619-EE8D-4BA2-9621-6A247C0FB9A6}" presName="spaceRect" presStyleCnt="0"/>
      <dgm:spPr/>
    </dgm:pt>
    <dgm:pt modelId="{525890B2-942E-46BE-9EDD-63CADE9CF114}" type="pres">
      <dgm:prSet presAssocID="{67866619-EE8D-4BA2-9621-6A247C0FB9A6}" presName="parTx" presStyleLbl="revTx" presStyleIdx="1" presStyleCnt="3">
        <dgm:presLayoutVars>
          <dgm:chMax val="0"/>
          <dgm:chPref val="0"/>
        </dgm:presLayoutVars>
      </dgm:prSet>
      <dgm:spPr/>
    </dgm:pt>
    <dgm:pt modelId="{C077E09E-5D9E-4AE6-B46F-AD7F5A8ACBBB}" type="pres">
      <dgm:prSet presAssocID="{EEF74F49-AC8E-4A65-8868-F12D0BCA1B44}" presName="sibTrans" presStyleCnt="0"/>
      <dgm:spPr/>
    </dgm:pt>
    <dgm:pt modelId="{560947AF-C743-40D1-BAD3-931C01DEA27C}" type="pres">
      <dgm:prSet presAssocID="{56A1115F-0561-4C26-BD83-96F820F77E3B}" presName="compNode" presStyleCnt="0"/>
      <dgm:spPr/>
    </dgm:pt>
    <dgm:pt modelId="{82DC4B99-69B0-498A-9C25-95FCFAB9F07E}" type="pres">
      <dgm:prSet presAssocID="{56A1115F-0561-4C26-BD83-96F820F77E3B}" presName="bgRect" presStyleLbl="bgShp" presStyleIdx="2" presStyleCnt="3"/>
      <dgm:spPr/>
    </dgm:pt>
    <dgm:pt modelId="{C20820E0-55B2-4080-B405-5C6AE34927FD}" type="pres">
      <dgm:prSet presAssocID="{56A1115F-0561-4C26-BD83-96F820F77E3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adioactive"/>
        </a:ext>
      </dgm:extLst>
    </dgm:pt>
    <dgm:pt modelId="{487C85BF-E92A-4710-B392-0FFF4E693CC0}" type="pres">
      <dgm:prSet presAssocID="{56A1115F-0561-4C26-BD83-96F820F77E3B}" presName="spaceRect" presStyleCnt="0"/>
      <dgm:spPr/>
    </dgm:pt>
    <dgm:pt modelId="{3D13F75E-C0ED-40A3-BF9F-75CC242A4A41}" type="pres">
      <dgm:prSet presAssocID="{56A1115F-0561-4C26-BD83-96F820F77E3B}" presName="parTx" presStyleLbl="revTx" presStyleIdx="2" presStyleCnt="3">
        <dgm:presLayoutVars>
          <dgm:chMax val="0"/>
          <dgm:chPref val="0"/>
        </dgm:presLayoutVars>
      </dgm:prSet>
      <dgm:spPr/>
    </dgm:pt>
  </dgm:ptLst>
  <dgm:cxnLst>
    <dgm:cxn modelId="{923B0C3E-A290-4DB6-B166-2DBF783AD83E}" type="presOf" srcId="{C9B26075-0E3F-4F14-AB9F-9E512A2EFFAA}" destId="{8B6A7642-C643-4A0E-9B12-98B489F4A4C0}" srcOrd="0" destOrd="0" presId="urn:microsoft.com/office/officeart/2018/2/layout/IconVerticalSolidList"/>
    <dgm:cxn modelId="{DBBE026B-7FDF-4703-9937-80C692DE9CF0}" srcId="{C9B26075-0E3F-4F14-AB9F-9E512A2EFFAA}" destId="{8AF6A61D-EC40-4D8C-A87A-BEC111681434}" srcOrd="0" destOrd="0" parTransId="{51902754-50AB-4D8A-80D9-FBC39526DEB8}" sibTransId="{4DC59231-387B-400F-8C37-EA99984E47A8}"/>
    <dgm:cxn modelId="{8C9EC76F-72E1-4DE9-AE38-98DA4DAD46AC}" type="presOf" srcId="{67866619-EE8D-4BA2-9621-6A247C0FB9A6}" destId="{525890B2-942E-46BE-9EDD-63CADE9CF114}" srcOrd="0" destOrd="0" presId="urn:microsoft.com/office/officeart/2018/2/layout/IconVerticalSolidList"/>
    <dgm:cxn modelId="{CC1EFC71-DE79-4AA2-AAC0-197EEFA03B1A}" srcId="{C9B26075-0E3F-4F14-AB9F-9E512A2EFFAA}" destId="{67866619-EE8D-4BA2-9621-6A247C0FB9A6}" srcOrd="1" destOrd="0" parTransId="{8043AAA8-0B18-459B-8569-90A8B0994940}" sibTransId="{EEF74F49-AC8E-4A65-8868-F12D0BCA1B44}"/>
    <dgm:cxn modelId="{559BE977-D0FF-4D1E-BD36-DF1336FD5ACC}" type="presOf" srcId="{56A1115F-0561-4C26-BD83-96F820F77E3B}" destId="{3D13F75E-C0ED-40A3-BF9F-75CC242A4A41}" srcOrd="0" destOrd="0" presId="urn:microsoft.com/office/officeart/2018/2/layout/IconVerticalSolidList"/>
    <dgm:cxn modelId="{15C26E93-FC1D-429C-B2CA-7581F837B571}" srcId="{C9B26075-0E3F-4F14-AB9F-9E512A2EFFAA}" destId="{56A1115F-0561-4C26-BD83-96F820F77E3B}" srcOrd="2" destOrd="0" parTransId="{18C9F069-C8D7-43BE-99D6-09B29E02E660}" sibTransId="{6D005BCB-341D-4AF2-BB13-F0B5408EC941}"/>
    <dgm:cxn modelId="{59AAE096-1236-4EA1-A486-1FE06439CBFC}" type="presOf" srcId="{8AF6A61D-EC40-4D8C-A87A-BEC111681434}" destId="{C5AB9C06-C5B6-4F65-A760-E08F56A8FBF8}" srcOrd="0" destOrd="0" presId="urn:microsoft.com/office/officeart/2018/2/layout/IconVerticalSolidList"/>
    <dgm:cxn modelId="{4E0BC017-FDE6-46B3-922B-F2844578BD8D}" type="presParOf" srcId="{8B6A7642-C643-4A0E-9B12-98B489F4A4C0}" destId="{BE1875B7-2F81-416E-966B-C70D17801FE8}" srcOrd="0" destOrd="0" presId="urn:microsoft.com/office/officeart/2018/2/layout/IconVerticalSolidList"/>
    <dgm:cxn modelId="{C12F2618-7DBA-4A0D-B045-FCAC91F04F03}" type="presParOf" srcId="{BE1875B7-2F81-416E-966B-C70D17801FE8}" destId="{82035E1E-4A72-4FAA-AABB-DD188FF5B52D}" srcOrd="0" destOrd="0" presId="urn:microsoft.com/office/officeart/2018/2/layout/IconVerticalSolidList"/>
    <dgm:cxn modelId="{A618CFAE-347B-4679-9E9C-7EA9A9E39C0E}" type="presParOf" srcId="{BE1875B7-2F81-416E-966B-C70D17801FE8}" destId="{6B737960-4FAF-428E-A3D6-C5B6178D40D5}" srcOrd="1" destOrd="0" presId="urn:microsoft.com/office/officeart/2018/2/layout/IconVerticalSolidList"/>
    <dgm:cxn modelId="{01E2A72D-8356-43FE-920C-D7201E1B883E}" type="presParOf" srcId="{BE1875B7-2F81-416E-966B-C70D17801FE8}" destId="{A8BF5A98-76F3-4019-85B6-0699E6121689}" srcOrd="2" destOrd="0" presId="urn:microsoft.com/office/officeart/2018/2/layout/IconVerticalSolidList"/>
    <dgm:cxn modelId="{1002CE44-1EA4-42FC-83F1-3FE2EC46D84C}" type="presParOf" srcId="{BE1875B7-2F81-416E-966B-C70D17801FE8}" destId="{C5AB9C06-C5B6-4F65-A760-E08F56A8FBF8}" srcOrd="3" destOrd="0" presId="urn:microsoft.com/office/officeart/2018/2/layout/IconVerticalSolidList"/>
    <dgm:cxn modelId="{A38E8352-57ED-4DFB-A52E-068D318E5E0E}" type="presParOf" srcId="{8B6A7642-C643-4A0E-9B12-98B489F4A4C0}" destId="{481FA969-F6C5-4FA1-8A30-6EFF3BBF7AE4}" srcOrd="1" destOrd="0" presId="urn:microsoft.com/office/officeart/2018/2/layout/IconVerticalSolidList"/>
    <dgm:cxn modelId="{20EB7022-A0E7-410E-B899-7C73C968AEC9}" type="presParOf" srcId="{8B6A7642-C643-4A0E-9B12-98B489F4A4C0}" destId="{D3349623-A45A-42DC-8AC7-EC43F91876F1}" srcOrd="2" destOrd="0" presId="urn:microsoft.com/office/officeart/2018/2/layout/IconVerticalSolidList"/>
    <dgm:cxn modelId="{C80A0792-045C-4EF4-A158-FF770DAAC50D}" type="presParOf" srcId="{D3349623-A45A-42DC-8AC7-EC43F91876F1}" destId="{5DD823DA-B924-4C7E-AE2B-F690D272E00D}" srcOrd="0" destOrd="0" presId="urn:microsoft.com/office/officeart/2018/2/layout/IconVerticalSolidList"/>
    <dgm:cxn modelId="{5A7EE844-7589-4DF3-9BE2-D088E120282F}" type="presParOf" srcId="{D3349623-A45A-42DC-8AC7-EC43F91876F1}" destId="{FDE72C83-0678-4D88-8A38-B83BC87E5284}" srcOrd="1" destOrd="0" presId="urn:microsoft.com/office/officeart/2018/2/layout/IconVerticalSolidList"/>
    <dgm:cxn modelId="{59DD6542-0CFE-4E77-A9A3-A15C5D25CDB5}" type="presParOf" srcId="{D3349623-A45A-42DC-8AC7-EC43F91876F1}" destId="{3C6914CF-4BAE-4840-9E05-1987DCC53727}" srcOrd="2" destOrd="0" presId="urn:microsoft.com/office/officeart/2018/2/layout/IconVerticalSolidList"/>
    <dgm:cxn modelId="{BD1EE599-DE10-4AC2-8D01-DE8260DB0BDC}" type="presParOf" srcId="{D3349623-A45A-42DC-8AC7-EC43F91876F1}" destId="{525890B2-942E-46BE-9EDD-63CADE9CF114}" srcOrd="3" destOrd="0" presId="urn:microsoft.com/office/officeart/2018/2/layout/IconVerticalSolidList"/>
    <dgm:cxn modelId="{344C2127-FC78-42CE-805A-A455121DDEB4}" type="presParOf" srcId="{8B6A7642-C643-4A0E-9B12-98B489F4A4C0}" destId="{C077E09E-5D9E-4AE6-B46F-AD7F5A8ACBBB}" srcOrd="3" destOrd="0" presId="urn:microsoft.com/office/officeart/2018/2/layout/IconVerticalSolidList"/>
    <dgm:cxn modelId="{2EEF19B9-2751-4D33-B9A9-859697337727}" type="presParOf" srcId="{8B6A7642-C643-4A0E-9B12-98B489F4A4C0}" destId="{560947AF-C743-40D1-BAD3-931C01DEA27C}" srcOrd="4" destOrd="0" presId="urn:microsoft.com/office/officeart/2018/2/layout/IconVerticalSolidList"/>
    <dgm:cxn modelId="{FF4B629C-178E-4B62-9DEC-D43166D62AF9}" type="presParOf" srcId="{560947AF-C743-40D1-BAD3-931C01DEA27C}" destId="{82DC4B99-69B0-498A-9C25-95FCFAB9F07E}" srcOrd="0" destOrd="0" presId="urn:microsoft.com/office/officeart/2018/2/layout/IconVerticalSolidList"/>
    <dgm:cxn modelId="{E3523C6E-5627-4073-963D-4A1709A4F42C}" type="presParOf" srcId="{560947AF-C743-40D1-BAD3-931C01DEA27C}" destId="{C20820E0-55B2-4080-B405-5C6AE34927FD}" srcOrd="1" destOrd="0" presId="urn:microsoft.com/office/officeart/2018/2/layout/IconVerticalSolidList"/>
    <dgm:cxn modelId="{532B5B9C-C1DC-4115-AFD3-B6E067524E2B}" type="presParOf" srcId="{560947AF-C743-40D1-BAD3-931C01DEA27C}" destId="{487C85BF-E92A-4710-B392-0FFF4E693CC0}" srcOrd="2" destOrd="0" presId="urn:microsoft.com/office/officeart/2018/2/layout/IconVerticalSolidList"/>
    <dgm:cxn modelId="{4BE7D067-0259-4FEA-A86C-8806F6C99FA5}" type="presParOf" srcId="{560947AF-C743-40D1-BAD3-931C01DEA27C}" destId="{3D13F75E-C0ED-40A3-BF9F-75CC242A4A4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5643FA-6650-405E-B839-ABA80204BDB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D95A17B-10BB-40B9-AA76-5A3F7DE75BE7}">
      <dgm:prSet/>
      <dgm:spPr/>
      <dgm:t>
        <a:bodyPr/>
        <a:lstStyle/>
        <a:p>
          <a:r>
            <a:rPr lang="en-US"/>
            <a:t>Applications ranged from:</a:t>
          </a:r>
        </a:p>
      </dgm:t>
    </dgm:pt>
    <dgm:pt modelId="{7ACBD730-34CF-45E6-BCAA-10C3963B4151}" type="parTrans" cxnId="{69B77A0B-1DB8-4641-BF2B-BFCE144E4DE3}">
      <dgm:prSet/>
      <dgm:spPr/>
      <dgm:t>
        <a:bodyPr/>
        <a:lstStyle/>
        <a:p>
          <a:endParaRPr lang="en-US"/>
        </a:p>
      </dgm:t>
    </dgm:pt>
    <dgm:pt modelId="{10E25E91-74ED-4DD2-8A09-DC9548FC23BB}" type="sibTrans" cxnId="{69B77A0B-1DB8-4641-BF2B-BFCE144E4DE3}">
      <dgm:prSet/>
      <dgm:spPr/>
      <dgm:t>
        <a:bodyPr/>
        <a:lstStyle/>
        <a:p>
          <a:endParaRPr lang="en-US"/>
        </a:p>
      </dgm:t>
    </dgm:pt>
    <dgm:pt modelId="{36214CF7-0F69-4079-A50D-CD1AC9D85567}">
      <dgm:prSet/>
      <dgm:spPr/>
      <dgm:t>
        <a:bodyPr/>
        <a:lstStyle/>
        <a:p>
          <a:r>
            <a:rPr lang="en-US"/>
            <a:t>Teams employed structured workflows combining </a:t>
          </a:r>
        </a:p>
      </dgm:t>
    </dgm:pt>
    <dgm:pt modelId="{FB917D92-9F77-4086-BF74-E74C268B8A87}" type="parTrans" cxnId="{DF4E686E-5BD0-46D5-9FE2-FB937A3474AB}">
      <dgm:prSet/>
      <dgm:spPr/>
      <dgm:t>
        <a:bodyPr/>
        <a:lstStyle/>
        <a:p>
          <a:endParaRPr lang="en-US"/>
        </a:p>
      </dgm:t>
    </dgm:pt>
    <dgm:pt modelId="{C60C7AC0-110B-403F-A8A4-3541A677DEDB}" type="sibTrans" cxnId="{DF4E686E-5BD0-46D5-9FE2-FB937A3474AB}">
      <dgm:prSet/>
      <dgm:spPr/>
      <dgm:t>
        <a:bodyPr/>
        <a:lstStyle/>
        <a:p>
          <a:endParaRPr lang="en-US"/>
        </a:p>
      </dgm:t>
    </dgm:pt>
    <dgm:pt modelId="{174009B6-D199-4B59-BF8A-3F0DCDA98AC5}">
      <dgm:prSet/>
      <dgm:spPr/>
      <dgm:t>
        <a:bodyPr/>
        <a:lstStyle/>
        <a:p>
          <a:r>
            <a:rPr lang="en-US"/>
            <a:t>Key findings demonstrate that LLMs excel at early-stages in: </a:t>
          </a:r>
        </a:p>
      </dgm:t>
    </dgm:pt>
    <dgm:pt modelId="{4C1E62B0-1926-49CE-85CC-ADA38D9CC770}" type="parTrans" cxnId="{F524FC19-E244-4F86-A80D-9FEA0B2D7619}">
      <dgm:prSet/>
      <dgm:spPr/>
      <dgm:t>
        <a:bodyPr/>
        <a:lstStyle/>
        <a:p>
          <a:endParaRPr lang="en-US"/>
        </a:p>
      </dgm:t>
    </dgm:pt>
    <dgm:pt modelId="{7BA47040-A84A-48D1-A4C1-7495DBD872F2}" type="sibTrans" cxnId="{F524FC19-E244-4F86-A80D-9FEA0B2D7619}">
      <dgm:prSet/>
      <dgm:spPr/>
      <dgm:t>
        <a:bodyPr/>
        <a:lstStyle/>
        <a:p>
          <a:endParaRPr lang="en-US"/>
        </a:p>
      </dgm:t>
    </dgm:pt>
    <dgm:pt modelId="{E6CEBD7D-702A-4064-94AA-AC152CDE474F}" type="pres">
      <dgm:prSet presAssocID="{CD5643FA-6650-405E-B839-ABA80204BDB1}" presName="root" presStyleCnt="0">
        <dgm:presLayoutVars>
          <dgm:dir/>
          <dgm:resizeHandles val="exact"/>
        </dgm:presLayoutVars>
      </dgm:prSet>
      <dgm:spPr/>
    </dgm:pt>
    <dgm:pt modelId="{46C41E2E-C60E-491A-9521-6CAF32B9BF1C}" type="pres">
      <dgm:prSet presAssocID="{4D95A17B-10BB-40B9-AA76-5A3F7DE75BE7}" presName="compNode" presStyleCnt="0"/>
      <dgm:spPr/>
    </dgm:pt>
    <dgm:pt modelId="{ED858BF9-72A5-46CC-BFFC-267CBFEC125A}" type="pres">
      <dgm:prSet presAssocID="{4D95A17B-10BB-40B9-AA76-5A3F7DE75BE7}" presName="bgRect" presStyleLbl="bgShp" presStyleIdx="0" presStyleCnt="3"/>
      <dgm:spPr/>
    </dgm:pt>
    <dgm:pt modelId="{367AF3EA-E12C-4981-809D-C409165A0333}" type="pres">
      <dgm:prSet presAssocID="{4D95A17B-10BB-40B9-AA76-5A3F7DE75BE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ximize"/>
        </a:ext>
      </dgm:extLst>
    </dgm:pt>
    <dgm:pt modelId="{C10AD88F-D3BD-4EFB-B07B-CFB59A20D766}" type="pres">
      <dgm:prSet presAssocID="{4D95A17B-10BB-40B9-AA76-5A3F7DE75BE7}" presName="spaceRect" presStyleCnt="0"/>
      <dgm:spPr/>
    </dgm:pt>
    <dgm:pt modelId="{E8AF0730-D59D-435A-842C-624606FB3A27}" type="pres">
      <dgm:prSet presAssocID="{4D95A17B-10BB-40B9-AA76-5A3F7DE75BE7}" presName="parTx" presStyleLbl="revTx" presStyleIdx="0" presStyleCnt="3">
        <dgm:presLayoutVars>
          <dgm:chMax val="0"/>
          <dgm:chPref val="0"/>
        </dgm:presLayoutVars>
      </dgm:prSet>
      <dgm:spPr/>
    </dgm:pt>
    <dgm:pt modelId="{E7F07621-1724-4A42-95CA-A8E1BCDF21C4}" type="pres">
      <dgm:prSet presAssocID="{10E25E91-74ED-4DD2-8A09-DC9548FC23BB}" presName="sibTrans" presStyleCnt="0"/>
      <dgm:spPr/>
    </dgm:pt>
    <dgm:pt modelId="{11FD3722-CF3F-4163-8C56-AFEC7464317F}" type="pres">
      <dgm:prSet presAssocID="{36214CF7-0F69-4079-A50D-CD1AC9D85567}" presName="compNode" presStyleCnt="0"/>
      <dgm:spPr/>
    </dgm:pt>
    <dgm:pt modelId="{22E1A803-BAFA-4AE9-8A3F-1C383792B312}" type="pres">
      <dgm:prSet presAssocID="{36214CF7-0F69-4079-A50D-CD1AC9D85567}" presName="bgRect" presStyleLbl="bgShp" presStyleIdx="1" presStyleCnt="3"/>
      <dgm:spPr/>
    </dgm:pt>
    <dgm:pt modelId="{5A19147D-48F4-4E96-8D4B-77B6E6242BB3}" type="pres">
      <dgm:prSet presAssocID="{36214CF7-0F69-4079-A50D-CD1AC9D8556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ECD121D0-0168-49CB-8AD0-ECB8906A825A}" type="pres">
      <dgm:prSet presAssocID="{36214CF7-0F69-4079-A50D-CD1AC9D85567}" presName="spaceRect" presStyleCnt="0"/>
      <dgm:spPr/>
    </dgm:pt>
    <dgm:pt modelId="{74C15B11-885A-4384-926D-FAAC80C93A0A}" type="pres">
      <dgm:prSet presAssocID="{36214CF7-0F69-4079-A50D-CD1AC9D85567}" presName="parTx" presStyleLbl="revTx" presStyleIdx="1" presStyleCnt="3">
        <dgm:presLayoutVars>
          <dgm:chMax val="0"/>
          <dgm:chPref val="0"/>
        </dgm:presLayoutVars>
      </dgm:prSet>
      <dgm:spPr/>
    </dgm:pt>
    <dgm:pt modelId="{14970ADA-D654-4CDD-BF75-21B8998C55D8}" type="pres">
      <dgm:prSet presAssocID="{C60C7AC0-110B-403F-A8A4-3541A677DEDB}" presName="sibTrans" presStyleCnt="0"/>
      <dgm:spPr/>
    </dgm:pt>
    <dgm:pt modelId="{99385C75-35E1-443B-A908-068E9ACDAA85}" type="pres">
      <dgm:prSet presAssocID="{174009B6-D199-4B59-BF8A-3F0DCDA98AC5}" presName="compNode" presStyleCnt="0"/>
      <dgm:spPr/>
    </dgm:pt>
    <dgm:pt modelId="{09D68844-FB82-4B0C-801D-FF0AAE84D632}" type="pres">
      <dgm:prSet presAssocID="{174009B6-D199-4B59-BF8A-3F0DCDA98AC5}" presName="bgRect" presStyleLbl="bgShp" presStyleIdx="2" presStyleCnt="3"/>
      <dgm:spPr/>
    </dgm:pt>
    <dgm:pt modelId="{571AB638-D0E6-45DE-860B-0D42619E52B1}" type="pres">
      <dgm:prSet presAssocID="{174009B6-D199-4B59-BF8A-3F0DCDA98AC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Key"/>
        </a:ext>
      </dgm:extLst>
    </dgm:pt>
    <dgm:pt modelId="{F48FD833-5D9D-4BCE-B78E-06802790A88F}" type="pres">
      <dgm:prSet presAssocID="{174009B6-D199-4B59-BF8A-3F0DCDA98AC5}" presName="spaceRect" presStyleCnt="0"/>
      <dgm:spPr/>
    </dgm:pt>
    <dgm:pt modelId="{D7BD159B-CF26-4741-A6B8-3D6CC390989A}" type="pres">
      <dgm:prSet presAssocID="{174009B6-D199-4B59-BF8A-3F0DCDA98AC5}" presName="parTx" presStyleLbl="revTx" presStyleIdx="2" presStyleCnt="3">
        <dgm:presLayoutVars>
          <dgm:chMax val="0"/>
          <dgm:chPref val="0"/>
        </dgm:presLayoutVars>
      </dgm:prSet>
      <dgm:spPr/>
    </dgm:pt>
  </dgm:ptLst>
  <dgm:cxnLst>
    <dgm:cxn modelId="{69B77A0B-1DB8-4641-BF2B-BFCE144E4DE3}" srcId="{CD5643FA-6650-405E-B839-ABA80204BDB1}" destId="{4D95A17B-10BB-40B9-AA76-5A3F7DE75BE7}" srcOrd="0" destOrd="0" parTransId="{7ACBD730-34CF-45E6-BCAA-10C3963B4151}" sibTransId="{10E25E91-74ED-4DD2-8A09-DC9548FC23BB}"/>
    <dgm:cxn modelId="{F524FC19-E244-4F86-A80D-9FEA0B2D7619}" srcId="{CD5643FA-6650-405E-B839-ABA80204BDB1}" destId="{174009B6-D199-4B59-BF8A-3F0DCDA98AC5}" srcOrd="2" destOrd="0" parTransId="{4C1E62B0-1926-49CE-85CC-ADA38D9CC770}" sibTransId="{7BA47040-A84A-48D1-A4C1-7495DBD872F2}"/>
    <dgm:cxn modelId="{77065F28-19FA-4EDE-9F4F-6E619AB0C93D}" type="presOf" srcId="{36214CF7-0F69-4079-A50D-CD1AC9D85567}" destId="{74C15B11-885A-4384-926D-FAAC80C93A0A}" srcOrd="0" destOrd="0" presId="urn:microsoft.com/office/officeart/2018/2/layout/IconVerticalSolidList"/>
    <dgm:cxn modelId="{6B44C534-1322-409E-97CA-4AD849B092DD}" type="presOf" srcId="{CD5643FA-6650-405E-B839-ABA80204BDB1}" destId="{E6CEBD7D-702A-4064-94AA-AC152CDE474F}" srcOrd="0" destOrd="0" presId="urn:microsoft.com/office/officeart/2018/2/layout/IconVerticalSolidList"/>
    <dgm:cxn modelId="{DF4E686E-5BD0-46D5-9FE2-FB937A3474AB}" srcId="{CD5643FA-6650-405E-B839-ABA80204BDB1}" destId="{36214CF7-0F69-4079-A50D-CD1AC9D85567}" srcOrd="1" destOrd="0" parTransId="{FB917D92-9F77-4086-BF74-E74C268B8A87}" sibTransId="{C60C7AC0-110B-403F-A8A4-3541A677DEDB}"/>
    <dgm:cxn modelId="{7EBD397A-DE60-4803-B08D-15648D289159}" type="presOf" srcId="{4D95A17B-10BB-40B9-AA76-5A3F7DE75BE7}" destId="{E8AF0730-D59D-435A-842C-624606FB3A27}" srcOrd="0" destOrd="0" presId="urn:microsoft.com/office/officeart/2018/2/layout/IconVerticalSolidList"/>
    <dgm:cxn modelId="{5208BE8E-93D2-40CA-BD23-A36AFB91F84D}" type="presOf" srcId="{174009B6-D199-4B59-BF8A-3F0DCDA98AC5}" destId="{D7BD159B-CF26-4741-A6B8-3D6CC390989A}" srcOrd="0" destOrd="0" presId="urn:microsoft.com/office/officeart/2018/2/layout/IconVerticalSolidList"/>
    <dgm:cxn modelId="{96FB4DFC-A7F2-419E-B4D1-01C386D0C5B0}" type="presParOf" srcId="{E6CEBD7D-702A-4064-94AA-AC152CDE474F}" destId="{46C41E2E-C60E-491A-9521-6CAF32B9BF1C}" srcOrd="0" destOrd="0" presId="urn:microsoft.com/office/officeart/2018/2/layout/IconVerticalSolidList"/>
    <dgm:cxn modelId="{8CAA2E2A-65E8-4CCA-9573-A3562E16A67D}" type="presParOf" srcId="{46C41E2E-C60E-491A-9521-6CAF32B9BF1C}" destId="{ED858BF9-72A5-46CC-BFFC-267CBFEC125A}" srcOrd="0" destOrd="0" presId="urn:microsoft.com/office/officeart/2018/2/layout/IconVerticalSolidList"/>
    <dgm:cxn modelId="{6757D6B7-4A6A-4654-BE14-B3CA0D929BE8}" type="presParOf" srcId="{46C41E2E-C60E-491A-9521-6CAF32B9BF1C}" destId="{367AF3EA-E12C-4981-809D-C409165A0333}" srcOrd="1" destOrd="0" presId="urn:microsoft.com/office/officeart/2018/2/layout/IconVerticalSolidList"/>
    <dgm:cxn modelId="{88D27915-445A-4C43-BF9B-2173A18C71EB}" type="presParOf" srcId="{46C41E2E-C60E-491A-9521-6CAF32B9BF1C}" destId="{C10AD88F-D3BD-4EFB-B07B-CFB59A20D766}" srcOrd="2" destOrd="0" presId="urn:microsoft.com/office/officeart/2018/2/layout/IconVerticalSolidList"/>
    <dgm:cxn modelId="{54BC6216-9DAD-4373-807D-CF1D3710D582}" type="presParOf" srcId="{46C41E2E-C60E-491A-9521-6CAF32B9BF1C}" destId="{E8AF0730-D59D-435A-842C-624606FB3A27}" srcOrd="3" destOrd="0" presId="urn:microsoft.com/office/officeart/2018/2/layout/IconVerticalSolidList"/>
    <dgm:cxn modelId="{46AECBEF-E957-471B-8422-0321DADCC814}" type="presParOf" srcId="{E6CEBD7D-702A-4064-94AA-AC152CDE474F}" destId="{E7F07621-1724-4A42-95CA-A8E1BCDF21C4}" srcOrd="1" destOrd="0" presId="urn:microsoft.com/office/officeart/2018/2/layout/IconVerticalSolidList"/>
    <dgm:cxn modelId="{CCFD0FD4-575F-4BFB-B057-461AEBDD25D9}" type="presParOf" srcId="{E6CEBD7D-702A-4064-94AA-AC152CDE474F}" destId="{11FD3722-CF3F-4163-8C56-AFEC7464317F}" srcOrd="2" destOrd="0" presId="urn:microsoft.com/office/officeart/2018/2/layout/IconVerticalSolidList"/>
    <dgm:cxn modelId="{E4AF005C-FAE4-400A-9888-076C8F1CD73C}" type="presParOf" srcId="{11FD3722-CF3F-4163-8C56-AFEC7464317F}" destId="{22E1A803-BAFA-4AE9-8A3F-1C383792B312}" srcOrd="0" destOrd="0" presId="urn:microsoft.com/office/officeart/2018/2/layout/IconVerticalSolidList"/>
    <dgm:cxn modelId="{562A32D9-E0EB-46AE-9B72-C1F147E5FB47}" type="presParOf" srcId="{11FD3722-CF3F-4163-8C56-AFEC7464317F}" destId="{5A19147D-48F4-4E96-8D4B-77B6E6242BB3}" srcOrd="1" destOrd="0" presId="urn:microsoft.com/office/officeart/2018/2/layout/IconVerticalSolidList"/>
    <dgm:cxn modelId="{4B1FD62D-A3E6-4AB1-A7B8-99DE141847F1}" type="presParOf" srcId="{11FD3722-CF3F-4163-8C56-AFEC7464317F}" destId="{ECD121D0-0168-49CB-8AD0-ECB8906A825A}" srcOrd="2" destOrd="0" presId="urn:microsoft.com/office/officeart/2018/2/layout/IconVerticalSolidList"/>
    <dgm:cxn modelId="{BF07BBE0-5744-4058-BE09-CB70EC20B462}" type="presParOf" srcId="{11FD3722-CF3F-4163-8C56-AFEC7464317F}" destId="{74C15B11-885A-4384-926D-FAAC80C93A0A}" srcOrd="3" destOrd="0" presId="urn:microsoft.com/office/officeart/2018/2/layout/IconVerticalSolidList"/>
    <dgm:cxn modelId="{8218D7CD-F9AE-4B2C-BE98-09755991E3F4}" type="presParOf" srcId="{E6CEBD7D-702A-4064-94AA-AC152CDE474F}" destId="{14970ADA-D654-4CDD-BF75-21B8998C55D8}" srcOrd="3" destOrd="0" presId="urn:microsoft.com/office/officeart/2018/2/layout/IconVerticalSolidList"/>
    <dgm:cxn modelId="{FCD897FD-B4AB-4B57-877C-783451D2430F}" type="presParOf" srcId="{E6CEBD7D-702A-4064-94AA-AC152CDE474F}" destId="{99385C75-35E1-443B-A908-068E9ACDAA85}" srcOrd="4" destOrd="0" presId="urn:microsoft.com/office/officeart/2018/2/layout/IconVerticalSolidList"/>
    <dgm:cxn modelId="{B72EB8A3-09D8-45D0-975A-CBCB49FF3E3A}" type="presParOf" srcId="{99385C75-35E1-443B-A908-068E9ACDAA85}" destId="{09D68844-FB82-4B0C-801D-FF0AAE84D632}" srcOrd="0" destOrd="0" presId="urn:microsoft.com/office/officeart/2018/2/layout/IconVerticalSolidList"/>
    <dgm:cxn modelId="{C1773878-CC0E-4020-A4E7-DAC2D72499EC}" type="presParOf" srcId="{99385C75-35E1-443B-A908-068E9ACDAA85}" destId="{571AB638-D0E6-45DE-860B-0D42619E52B1}" srcOrd="1" destOrd="0" presId="urn:microsoft.com/office/officeart/2018/2/layout/IconVerticalSolidList"/>
    <dgm:cxn modelId="{25D9C619-1A85-40A9-BF3C-1925638E1603}" type="presParOf" srcId="{99385C75-35E1-443B-A908-068E9ACDAA85}" destId="{F48FD833-5D9D-4BCE-B78E-06802790A88F}" srcOrd="2" destOrd="0" presId="urn:microsoft.com/office/officeart/2018/2/layout/IconVerticalSolidList"/>
    <dgm:cxn modelId="{E1E06DF8-8C4C-4D80-B0B6-BBE55A9F8FD2}" type="presParOf" srcId="{99385C75-35E1-443B-A908-068E9ACDAA85}" destId="{D7BD159B-CF26-4741-A6B8-3D6CC390989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019DFB-F6E5-455C-AD3C-E41A15421937}" type="doc">
      <dgm:prSet loTypeId="urn:microsoft.com/office/officeart/2018/2/layout/IconVerticalSolidList" loCatId="icon" qsTypeId="urn:microsoft.com/office/officeart/2005/8/quickstyle/simple1" qsCatId="simple" csTypeId="urn:microsoft.com/office/officeart/2018/5/colors/Iconchunking_neutralbg_accent2_2" csCatId="accent2" phldr="1"/>
      <dgm:spPr/>
      <dgm:t>
        <a:bodyPr/>
        <a:lstStyle/>
        <a:p>
          <a:endParaRPr lang="en-US"/>
        </a:p>
      </dgm:t>
    </dgm:pt>
    <dgm:pt modelId="{BB0685E7-5383-48EB-A54B-30A05A656CC7}">
      <dgm:prSet/>
      <dgm:spPr/>
      <dgm:t>
        <a:bodyPr/>
        <a:lstStyle/>
        <a:p>
          <a:pPr>
            <a:lnSpc>
              <a:spcPct val="100000"/>
            </a:lnSpc>
          </a:pPr>
          <a:r>
            <a:rPr lang="en-US"/>
            <a:t>Results of successful outcomes</a:t>
          </a:r>
        </a:p>
      </dgm:t>
    </dgm:pt>
    <dgm:pt modelId="{C0FC4A18-5A40-4553-A20D-B5C438B2DC68}" type="parTrans" cxnId="{EB5444FB-6A80-4C73-878A-027F211442E6}">
      <dgm:prSet/>
      <dgm:spPr/>
      <dgm:t>
        <a:bodyPr/>
        <a:lstStyle/>
        <a:p>
          <a:endParaRPr lang="en-US"/>
        </a:p>
      </dgm:t>
    </dgm:pt>
    <dgm:pt modelId="{76ECA0FE-BA23-445B-A42C-5F5AB4D09CBC}" type="sibTrans" cxnId="{EB5444FB-6A80-4C73-878A-027F211442E6}">
      <dgm:prSet/>
      <dgm:spPr/>
      <dgm:t>
        <a:bodyPr/>
        <a:lstStyle/>
        <a:p>
          <a:endParaRPr lang="en-US"/>
        </a:p>
      </dgm:t>
    </dgm:pt>
    <dgm:pt modelId="{F4B97211-06E4-439F-A62E-9A5916D56F10}">
      <dgm:prSet/>
      <dgm:spPr/>
      <dgm:t>
        <a:bodyPr/>
        <a:lstStyle/>
        <a:p>
          <a:pPr>
            <a:lnSpc>
              <a:spcPct val="100000"/>
            </a:lnSpc>
          </a:pPr>
          <a:r>
            <a:rPr lang="en-CA"/>
            <a:t>Practicality of using AI in nuclear physics</a:t>
          </a:r>
          <a:endParaRPr lang="en-US"/>
        </a:p>
      </dgm:t>
    </dgm:pt>
    <dgm:pt modelId="{FDBA1845-0008-4710-917D-EDBB2D0930D7}" type="parTrans" cxnId="{D7F637BF-61B5-48A3-8983-5A0788F2415B}">
      <dgm:prSet/>
      <dgm:spPr/>
      <dgm:t>
        <a:bodyPr/>
        <a:lstStyle/>
        <a:p>
          <a:endParaRPr lang="en-US"/>
        </a:p>
      </dgm:t>
    </dgm:pt>
    <dgm:pt modelId="{D336A123-C26E-424B-B9C7-EECC6981C0D2}" type="sibTrans" cxnId="{D7F637BF-61B5-48A3-8983-5A0788F2415B}">
      <dgm:prSet/>
      <dgm:spPr/>
      <dgm:t>
        <a:bodyPr/>
        <a:lstStyle/>
        <a:p>
          <a:endParaRPr lang="en-US"/>
        </a:p>
      </dgm:t>
    </dgm:pt>
    <dgm:pt modelId="{76C2B798-91EA-42C8-8F78-4FBD0396DAE5}" type="pres">
      <dgm:prSet presAssocID="{7C019DFB-F6E5-455C-AD3C-E41A15421937}" presName="root" presStyleCnt="0">
        <dgm:presLayoutVars>
          <dgm:dir/>
          <dgm:resizeHandles val="exact"/>
        </dgm:presLayoutVars>
      </dgm:prSet>
      <dgm:spPr/>
    </dgm:pt>
    <dgm:pt modelId="{464A6EBD-FDFB-4CD9-9762-3AE006DF307A}" type="pres">
      <dgm:prSet presAssocID="{BB0685E7-5383-48EB-A54B-30A05A656CC7}" presName="compNode" presStyleCnt="0"/>
      <dgm:spPr/>
    </dgm:pt>
    <dgm:pt modelId="{0F811665-CB4A-460F-98DC-9D8738318A7D}" type="pres">
      <dgm:prSet presAssocID="{BB0685E7-5383-48EB-A54B-30A05A656CC7}" presName="bgRect" presStyleLbl="bgShp" presStyleIdx="0" presStyleCnt="2"/>
      <dgm:spPr/>
    </dgm:pt>
    <dgm:pt modelId="{AEC5C2AF-5704-41AC-91AB-EBB3BAE08D90}" type="pres">
      <dgm:prSet presAssocID="{BB0685E7-5383-48EB-A54B-30A05A656CC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FA6B4DDA-E468-45C6-AA65-2052FE547361}" type="pres">
      <dgm:prSet presAssocID="{BB0685E7-5383-48EB-A54B-30A05A656CC7}" presName="spaceRect" presStyleCnt="0"/>
      <dgm:spPr/>
    </dgm:pt>
    <dgm:pt modelId="{3964E37E-C357-424E-873A-D4D7CDFFD12F}" type="pres">
      <dgm:prSet presAssocID="{BB0685E7-5383-48EB-A54B-30A05A656CC7}" presName="parTx" presStyleLbl="revTx" presStyleIdx="0" presStyleCnt="2">
        <dgm:presLayoutVars>
          <dgm:chMax val="0"/>
          <dgm:chPref val="0"/>
        </dgm:presLayoutVars>
      </dgm:prSet>
      <dgm:spPr/>
    </dgm:pt>
    <dgm:pt modelId="{E920F279-A984-4AD6-842D-FB8FA0B2A7C5}" type="pres">
      <dgm:prSet presAssocID="{76ECA0FE-BA23-445B-A42C-5F5AB4D09CBC}" presName="sibTrans" presStyleCnt="0"/>
      <dgm:spPr/>
    </dgm:pt>
    <dgm:pt modelId="{AAA80BAE-71FF-4295-B84F-1B043F08FB79}" type="pres">
      <dgm:prSet presAssocID="{F4B97211-06E4-439F-A62E-9A5916D56F10}" presName="compNode" presStyleCnt="0"/>
      <dgm:spPr/>
    </dgm:pt>
    <dgm:pt modelId="{906A0D5B-CC33-44A0-A4B5-B2D7EAF12619}" type="pres">
      <dgm:prSet presAssocID="{F4B97211-06E4-439F-A62E-9A5916D56F10}" presName="bgRect" presStyleLbl="bgShp" presStyleIdx="1" presStyleCnt="2"/>
      <dgm:spPr/>
    </dgm:pt>
    <dgm:pt modelId="{CE4845FF-9013-446B-95A4-D27FAD7253CB}" type="pres">
      <dgm:prSet presAssocID="{F4B97211-06E4-439F-A62E-9A5916D56F1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tom"/>
        </a:ext>
      </dgm:extLst>
    </dgm:pt>
    <dgm:pt modelId="{491B4BA1-5EDF-4F34-B2FC-7FCC32088E92}" type="pres">
      <dgm:prSet presAssocID="{F4B97211-06E4-439F-A62E-9A5916D56F10}" presName="spaceRect" presStyleCnt="0"/>
      <dgm:spPr/>
    </dgm:pt>
    <dgm:pt modelId="{6AE47A71-10F2-4D15-89AD-80E5B6856779}" type="pres">
      <dgm:prSet presAssocID="{F4B97211-06E4-439F-A62E-9A5916D56F10}" presName="parTx" presStyleLbl="revTx" presStyleIdx="1" presStyleCnt="2">
        <dgm:presLayoutVars>
          <dgm:chMax val="0"/>
          <dgm:chPref val="0"/>
        </dgm:presLayoutVars>
      </dgm:prSet>
      <dgm:spPr/>
    </dgm:pt>
  </dgm:ptLst>
  <dgm:cxnLst>
    <dgm:cxn modelId="{7D3E485E-3BC7-48FA-86EE-101FFA0D48A8}" type="presOf" srcId="{BB0685E7-5383-48EB-A54B-30A05A656CC7}" destId="{3964E37E-C357-424E-873A-D4D7CDFFD12F}" srcOrd="0" destOrd="0" presId="urn:microsoft.com/office/officeart/2018/2/layout/IconVerticalSolidList"/>
    <dgm:cxn modelId="{03608099-5D8E-4F34-AD80-19C1706C9749}" type="presOf" srcId="{F4B97211-06E4-439F-A62E-9A5916D56F10}" destId="{6AE47A71-10F2-4D15-89AD-80E5B6856779}" srcOrd="0" destOrd="0" presId="urn:microsoft.com/office/officeart/2018/2/layout/IconVerticalSolidList"/>
    <dgm:cxn modelId="{6343BF9D-75EE-4A24-8373-E2CE62E45102}" type="presOf" srcId="{7C019DFB-F6E5-455C-AD3C-E41A15421937}" destId="{76C2B798-91EA-42C8-8F78-4FBD0396DAE5}" srcOrd="0" destOrd="0" presId="urn:microsoft.com/office/officeart/2018/2/layout/IconVerticalSolidList"/>
    <dgm:cxn modelId="{D7F637BF-61B5-48A3-8983-5A0788F2415B}" srcId="{7C019DFB-F6E5-455C-AD3C-E41A15421937}" destId="{F4B97211-06E4-439F-A62E-9A5916D56F10}" srcOrd="1" destOrd="0" parTransId="{FDBA1845-0008-4710-917D-EDBB2D0930D7}" sibTransId="{D336A123-C26E-424B-B9C7-EECC6981C0D2}"/>
    <dgm:cxn modelId="{EB5444FB-6A80-4C73-878A-027F211442E6}" srcId="{7C019DFB-F6E5-455C-AD3C-E41A15421937}" destId="{BB0685E7-5383-48EB-A54B-30A05A656CC7}" srcOrd="0" destOrd="0" parTransId="{C0FC4A18-5A40-4553-A20D-B5C438B2DC68}" sibTransId="{76ECA0FE-BA23-445B-A42C-5F5AB4D09CBC}"/>
    <dgm:cxn modelId="{64221BD2-1ACB-4E0F-AC80-176E82652749}" type="presParOf" srcId="{76C2B798-91EA-42C8-8F78-4FBD0396DAE5}" destId="{464A6EBD-FDFB-4CD9-9762-3AE006DF307A}" srcOrd="0" destOrd="0" presId="urn:microsoft.com/office/officeart/2018/2/layout/IconVerticalSolidList"/>
    <dgm:cxn modelId="{D9BA15E6-1523-4CAC-BB7C-2F14B6A4C7B6}" type="presParOf" srcId="{464A6EBD-FDFB-4CD9-9762-3AE006DF307A}" destId="{0F811665-CB4A-460F-98DC-9D8738318A7D}" srcOrd="0" destOrd="0" presId="urn:microsoft.com/office/officeart/2018/2/layout/IconVerticalSolidList"/>
    <dgm:cxn modelId="{111A0FD0-48E6-4179-9B7E-68555C785740}" type="presParOf" srcId="{464A6EBD-FDFB-4CD9-9762-3AE006DF307A}" destId="{AEC5C2AF-5704-41AC-91AB-EBB3BAE08D90}" srcOrd="1" destOrd="0" presId="urn:microsoft.com/office/officeart/2018/2/layout/IconVerticalSolidList"/>
    <dgm:cxn modelId="{EDE476F5-84CD-4DDA-A914-DCC6582EC375}" type="presParOf" srcId="{464A6EBD-FDFB-4CD9-9762-3AE006DF307A}" destId="{FA6B4DDA-E468-45C6-AA65-2052FE547361}" srcOrd="2" destOrd="0" presId="urn:microsoft.com/office/officeart/2018/2/layout/IconVerticalSolidList"/>
    <dgm:cxn modelId="{BE0AE808-3DD8-4B27-A2DC-5F5E5F6C7104}" type="presParOf" srcId="{464A6EBD-FDFB-4CD9-9762-3AE006DF307A}" destId="{3964E37E-C357-424E-873A-D4D7CDFFD12F}" srcOrd="3" destOrd="0" presId="urn:microsoft.com/office/officeart/2018/2/layout/IconVerticalSolidList"/>
    <dgm:cxn modelId="{41732A2B-07AC-4384-9EE8-DC4F242AD064}" type="presParOf" srcId="{76C2B798-91EA-42C8-8F78-4FBD0396DAE5}" destId="{E920F279-A984-4AD6-842D-FB8FA0B2A7C5}" srcOrd="1" destOrd="0" presId="urn:microsoft.com/office/officeart/2018/2/layout/IconVerticalSolidList"/>
    <dgm:cxn modelId="{886BCC05-42E1-40EE-9F93-6E475DFBB24D}" type="presParOf" srcId="{76C2B798-91EA-42C8-8F78-4FBD0396DAE5}" destId="{AAA80BAE-71FF-4295-B84F-1B043F08FB79}" srcOrd="2" destOrd="0" presId="urn:microsoft.com/office/officeart/2018/2/layout/IconVerticalSolidList"/>
    <dgm:cxn modelId="{AD4643BB-F5AD-4735-ADBE-98D01BF0C612}" type="presParOf" srcId="{AAA80BAE-71FF-4295-B84F-1B043F08FB79}" destId="{906A0D5B-CC33-44A0-A4B5-B2D7EAF12619}" srcOrd="0" destOrd="0" presId="urn:microsoft.com/office/officeart/2018/2/layout/IconVerticalSolidList"/>
    <dgm:cxn modelId="{CCA6C2E3-6E00-4F65-939D-20CFEAC1F757}" type="presParOf" srcId="{AAA80BAE-71FF-4295-B84F-1B043F08FB79}" destId="{CE4845FF-9013-446B-95A4-D27FAD7253CB}" srcOrd="1" destOrd="0" presId="urn:microsoft.com/office/officeart/2018/2/layout/IconVerticalSolidList"/>
    <dgm:cxn modelId="{049DB5A1-209F-49D5-B50C-5FBF7C312523}" type="presParOf" srcId="{AAA80BAE-71FF-4295-B84F-1B043F08FB79}" destId="{491B4BA1-5EDF-4F34-B2FC-7FCC32088E92}" srcOrd="2" destOrd="0" presId="urn:microsoft.com/office/officeart/2018/2/layout/IconVerticalSolidList"/>
    <dgm:cxn modelId="{926550EC-1B68-4CC2-A802-9543426B19C5}" type="presParOf" srcId="{AAA80BAE-71FF-4295-B84F-1B043F08FB79}" destId="{6AE47A71-10F2-4D15-89AD-80E5B685677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35E1E-4A72-4FAA-AABB-DD188FF5B52D}">
      <dsp:nvSpPr>
        <dsp:cNvPr id="0" name=""/>
        <dsp:cNvSpPr/>
      </dsp:nvSpPr>
      <dsp:spPr>
        <a:xfrm>
          <a:off x="0" y="531"/>
          <a:ext cx="10515600" cy="1243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737960-4FAF-428E-A3D6-C5B6178D40D5}">
      <dsp:nvSpPr>
        <dsp:cNvPr id="0" name=""/>
        <dsp:cNvSpPr/>
      </dsp:nvSpPr>
      <dsp:spPr>
        <a:xfrm>
          <a:off x="376092" y="280269"/>
          <a:ext cx="683804" cy="6838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AB9C06-C5B6-4F65-A760-E08F56A8FBF8}">
      <dsp:nvSpPr>
        <dsp:cNvPr id="0" name=""/>
        <dsp:cNvSpPr/>
      </dsp:nvSpPr>
      <dsp:spPr>
        <a:xfrm>
          <a:off x="1435988" y="5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111250">
            <a:lnSpc>
              <a:spcPct val="100000"/>
            </a:lnSpc>
            <a:spcBef>
              <a:spcPct val="0"/>
            </a:spcBef>
            <a:spcAft>
              <a:spcPct val="35000"/>
            </a:spcAft>
            <a:buNone/>
          </a:pPr>
          <a:r>
            <a:rPr lang="en-CA" sz="2500" kern="1200"/>
            <a:t>How are LLM’s useful in nuclear research?</a:t>
          </a:r>
          <a:endParaRPr lang="en-US" sz="2500" kern="1200"/>
        </a:p>
      </dsp:txBody>
      <dsp:txXfrm>
        <a:off x="1435988" y="531"/>
        <a:ext cx="9079611" cy="1243280"/>
      </dsp:txXfrm>
    </dsp:sp>
    <dsp:sp modelId="{5DD823DA-B924-4C7E-AE2B-F690D272E00D}">
      <dsp:nvSpPr>
        <dsp:cNvPr id="0" name=""/>
        <dsp:cNvSpPr/>
      </dsp:nvSpPr>
      <dsp:spPr>
        <a:xfrm>
          <a:off x="0" y="1554631"/>
          <a:ext cx="10515600" cy="1243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E72C83-0678-4D88-8A38-B83BC87E5284}">
      <dsp:nvSpPr>
        <dsp:cNvPr id="0" name=""/>
        <dsp:cNvSpPr/>
      </dsp:nvSpPr>
      <dsp:spPr>
        <a:xfrm>
          <a:off x="376092" y="1834369"/>
          <a:ext cx="683804" cy="6838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5890B2-942E-46BE-9EDD-63CADE9CF114}">
      <dsp:nvSpPr>
        <dsp:cNvPr id="0" name=""/>
        <dsp:cNvSpPr/>
      </dsp:nvSpPr>
      <dsp:spPr>
        <a:xfrm>
          <a:off x="1435988" y="15546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111250">
            <a:lnSpc>
              <a:spcPct val="100000"/>
            </a:lnSpc>
            <a:spcBef>
              <a:spcPct val="0"/>
            </a:spcBef>
            <a:spcAft>
              <a:spcPct val="35000"/>
            </a:spcAft>
            <a:buNone/>
          </a:pPr>
          <a:r>
            <a:rPr lang="en-CA" sz="2500" kern="1200"/>
            <a:t>What limitations did they face?</a:t>
          </a:r>
          <a:endParaRPr lang="en-US" sz="2500" kern="1200"/>
        </a:p>
      </dsp:txBody>
      <dsp:txXfrm>
        <a:off x="1435988" y="1554631"/>
        <a:ext cx="9079611" cy="1243280"/>
      </dsp:txXfrm>
    </dsp:sp>
    <dsp:sp modelId="{82DC4B99-69B0-498A-9C25-95FCFAB9F07E}">
      <dsp:nvSpPr>
        <dsp:cNvPr id="0" name=""/>
        <dsp:cNvSpPr/>
      </dsp:nvSpPr>
      <dsp:spPr>
        <a:xfrm>
          <a:off x="0" y="3108732"/>
          <a:ext cx="10515600" cy="1243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0820E0-55B2-4080-B405-5C6AE34927FD}">
      <dsp:nvSpPr>
        <dsp:cNvPr id="0" name=""/>
        <dsp:cNvSpPr/>
      </dsp:nvSpPr>
      <dsp:spPr>
        <a:xfrm>
          <a:off x="376092" y="3388470"/>
          <a:ext cx="683804" cy="6838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13F75E-C0ED-40A3-BF9F-75CC242A4A41}">
      <dsp:nvSpPr>
        <dsp:cNvPr id="0" name=""/>
        <dsp:cNvSpPr/>
      </dsp:nvSpPr>
      <dsp:spPr>
        <a:xfrm>
          <a:off x="1435988" y="3108732"/>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111250">
            <a:lnSpc>
              <a:spcPct val="100000"/>
            </a:lnSpc>
            <a:spcBef>
              <a:spcPct val="0"/>
            </a:spcBef>
            <a:spcAft>
              <a:spcPct val="35000"/>
            </a:spcAft>
            <a:buNone/>
          </a:pPr>
          <a:r>
            <a:rPr lang="en-CA" sz="2500" kern="1200"/>
            <a:t>How relevant is LLM to nuclear energy research as a whole?</a:t>
          </a:r>
          <a:endParaRPr lang="en-US" sz="2500" kern="1200"/>
        </a:p>
      </dsp:txBody>
      <dsp:txXfrm>
        <a:off x="1435988" y="3108732"/>
        <a:ext cx="9079611" cy="12432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858BF9-72A5-46CC-BFFC-267CBFEC125A}">
      <dsp:nvSpPr>
        <dsp:cNvPr id="0" name=""/>
        <dsp:cNvSpPr/>
      </dsp:nvSpPr>
      <dsp:spPr>
        <a:xfrm>
          <a:off x="0" y="673"/>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7AF3EA-E12C-4981-809D-C409165A0333}">
      <dsp:nvSpPr>
        <dsp:cNvPr id="0" name=""/>
        <dsp:cNvSpPr/>
      </dsp:nvSpPr>
      <dsp:spPr>
        <a:xfrm>
          <a:off x="476436" y="355047"/>
          <a:ext cx="866247" cy="8662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AF0730-D59D-435A-842C-624606FB3A27}">
      <dsp:nvSpPr>
        <dsp:cNvPr id="0" name=""/>
        <dsp:cNvSpPr/>
      </dsp:nvSpPr>
      <dsp:spPr>
        <a:xfrm>
          <a:off x="1819120" y="673"/>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Applications ranged from:</a:t>
          </a:r>
        </a:p>
      </dsp:txBody>
      <dsp:txXfrm>
        <a:off x="1819120" y="673"/>
        <a:ext cx="4545103" cy="1574995"/>
      </dsp:txXfrm>
    </dsp:sp>
    <dsp:sp modelId="{22E1A803-BAFA-4AE9-8A3F-1C383792B312}">
      <dsp:nvSpPr>
        <dsp:cNvPr id="0" name=""/>
        <dsp:cNvSpPr/>
      </dsp:nvSpPr>
      <dsp:spPr>
        <a:xfrm>
          <a:off x="0" y="1969418"/>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19147D-48F4-4E96-8D4B-77B6E6242BB3}">
      <dsp:nvSpPr>
        <dsp:cNvPr id="0" name=""/>
        <dsp:cNvSpPr/>
      </dsp:nvSpPr>
      <dsp:spPr>
        <a:xfrm>
          <a:off x="476436" y="2323792"/>
          <a:ext cx="866247" cy="8662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C15B11-885A-4384-926D-FAAC80C93A0A}">
      <dsp:nvSpPr>
        <dsp:cNvPr id="0" name=""/>
        <dsp:cNvSpPr/>
      </dsp:nvSpPr>
      <dsp:spPr>
        <a:xfrm>
          <a:off x="1819120" y="1969418"/>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Teams employed structured workflows combining </a:t>
          </a:r>
        </a:p>
      </dsp:txBody>
      <dsp:txXfrm>
        <a:off x="1819120" y="1969418"/>
        <a:ext cx="4545103" cy="1574995"/>
      </dsp:txXfrm>
    </dsp:sp>
    <dsp:sp modelId="{09D68844-FB82-4B0C-801D-FF0AAE84D632}">
      <dsp:nvSpPr>
        <dsp:cNvPr id="0" name=""/>
        <dsp:cNvSpPr/>
      </dsp:nvSpPr>
      <dsp:spPr>
        <a:xfrm>
          <a:off x="0" y="3938162"/>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1AB638-D0E6-45DE-860B-0D42619E52B1}">
      <dsp:nvSpPr>
        <dsp:cNvPr id="0" name=""/>
        <dsp:cNvSpPr/>
      </dsp:nvSpPr>
      <dsp:spPr>
        <a:xfrm>
          <a:off x="476436" y="4292537"/>
          <a:ext cx="866247" cy="8662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BD159B-CF26-4741-A6B8-3D6CC390989A}">
      <dsp:nvSpPr>
        <dsp:cNvPr id="0" name=""/>
        <dsp:cNvSpPr/>
      </dsp:nvSpPr>
      <dsp:spPr>
        <a:xfrm>
          <a:off x="1819120" y="3938162"/>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Key findings demonstrate that LLMs excel at early-stages in: </a:t>
          </a:r>
        </a:p>
      </dsp:txBody>
      <dsp:txXfrm>
        <a:off x="1819120" y="3938162"/>
        <a:ext cx="4545103" cy="15749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811665-CB4A-460F-98DC-9D8738318A7D}">
      <dsp:nvSpPr>
        <dsp:cNvPr id="0" name=""/>
        <dsp:cNvSpPr/>
      </dsp:nvSpPr>
      <dsp:spPr>
        <a:xfrm>
          <a:off x="0" y="707092"/>
          <a:ext cx="10515600" cy="13054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C5C2AF-5704-41AC-91AB-EBB3BAE08D90}">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64E37E-C357-424E-873A-D4D7CDFFD12F}">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en-US" sz="2500" kern="1200"/>
            <a:t>Results of successful outcomes</a:t>
          </a:r>
        </a:p>
      </dsp:txBody>
      <dsp:txXfrm>
        <a:off x="1507738" y="707092"/>
        <a:ext cx="9007861" cy="1305401"/>
      </dsp:txXfrm>
    </dsp:sp>
    <dsp:sp modelId="{906A0D5B-CC33-44A0-A4B5-B2D7EAF12619}">
      <dsp:nvSpPr>
        <dsp:cNvPr id="0" name=""/>
        <dsp:cNvSpPr/>
      </dsp:nvSpPr>
      <dsp:spPr>
        <a:xfrm>
          <a:off x="0" y="2338844"/>
          <a:ext cx="10515600" cy="13054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4845FF-9013-446B-95A4-D27FAD7253CB}">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E47A71-10F2-4D15-89AD-80E5B6856779}">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en-CA" sz="2500" kern="1200"/>
            <a:t>Practicality of using AI in nuclear physics</a:t>
          </a:r>
          <a:endParaRPr lang="en-US" sz="2500" kern="1200"/>
        </a:p>
      </dsp:txBody>
      <dsp:txXfrm>
        <a:off x="1507738" y="2338844"/>
        <a:ext cx="9007861" cy="130540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1A533-A596-486D-A015-7F70337ACA6C}" type="datetimeFigureOut">
              <a:rPr lang="en-CA" smtClean="0"/>
              <a:t>2025-12-13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F5BA7-69A6-4A7C-9C56-97D702DC4F93}" type="slidenum">
              <a:rPr lang="en-CA" smtClean="0"/>
              <a:t>‹#›</a:t>
            </a:fld>
            <a:endParaRPr lang="en-CA"/>
          </a:p>
        </p:txBody>
      </p:sp>
    </p:spTree>
    <p:extLst>
      <p:ext uri="{BB962C8B-B14F-4D97-AF65-F5344CB8AC3E}">
        <p14:creationId xmlns:p14="http://schemas.microsoft.com/office/powerpoint/2010/main" val="145840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everybody,</a:t>
            </a:r>
          </a:p>
          <a:p>
            <a:endParaRPr lang="en-US" dirty="0"/>
          </a:p>
          <a:p>
            <a:r>
              <a:rPr lang="en-US" dirty="0"/>
              <a:t>Today I will be presenting something that always had a little bit of mystery behind it… Especially in terms of computer science.</a:t>
            </a:r>
            <a:br>
              <a:rPr lang="en-US" dirty="0"/>
            </a:br>
            <a:br>
              <a:rPr lang="en-US" dirty="0"/>
            </a:br>
            <a:r>
              <a:rPr lang="en-US" dirty="0"/>
              <a:t>So, I asked myself, “What are the modern computational techniques employed for nuclear physics engineering”?</a:t>
            </a:r>
            <a:endParaRPr lang="en-CA" dirty="0"/>
          </a:p>
        </p:txBody>
      </p:sp>
      <p:sp>
        <p:nvSpPr>
          <p:cNvPr id="4" name="Slide Number Placeholder 3"/>
          <p:cNvSpPr>
            <a:spLocks noGrp="1"/>
          </p:cNvSpPr>
          <p:nvPr>
            <p:ph type="sldNum" sz="quarter" idx="5"/>
          </p:nvPr>
        </p:nvSpPr>
        <p:spPr/>
        <p:txBody>
          <a:bodyPr/>
          <a:lstStyle/>
          <a:p>
            <a:fld id="{DB3F5BA7-69A6-4A7C-9C56-97D702DC4F93}" type="slidenum">
              <a:rPr lang="en-CA" smtClean="0"/>
              <a:t>1</a:t>
            </a:fld>
            <a:endParaRPr lang="en-CA"/>
          </a:p>
        </p:txBody>
      </p:sp>
    </p:spTree>
    <p:extLst>
      <p:ext uri="{BB962C8B-B14F-4D97-AF65-F5344CB8AC3E}">
        <p14:creationId xmlns:p14="http://schemas.microsoft.com/office/powerpoint/2010/main" val="3486788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go over this presentation’s agenda.</a:t>
            </a:r>
            <a:br>
              <a:rPr lang="en-US" dirty="0"/>
            </a:br>
            <a:br>
              <a:rPr lang="en-US" dirty="0"/>
            </a:br>
            <a:r>
              <a:rPr lang="en-US" dirty="0"/>
              <a:t>We’ll start by introducing what the scope of the presentation is.</a:t>
            </a:r>
            <a:br>
              <a:rPr lang="en-US" dirty="0"/>
            </a:br>
            <a:br>
              <a:rPr lang="en-US" dirty="0"/>
            </a:br>
            <a:r>
              <a:rPr lang="en-US" dirty="0"/>
              <a:t>Then we’ll investigate AI in nuclear physics research.</a:t>
            </a:r>
          </a:p>
          <a:p>
            <a:endParaRPr lang="en-US" dirty="0"/>
          </a:p>
          <a:p>
            <a:r>
              <a:rPr lang="en-US" dirty="0"/>
              <a:t>After words we’ll look at a computational model to simulate </a:t>
            </a:r>
            <a:r>
              <a:rPr lang="en-US" sz="1200" b="0" i="0" kern="1200" dirty="0">
                <a:solidFill>
                  <a:schemeClr val="tx1"/>
                </a:solidFill>
                <a:effectLst/>
                <a:latin typeface="+mn-lt"/>
                <a:ea typeface="+mn-ea"/>
                <a:cs typeface="+mn-cs"/>
              </a:rPr>
              <a:t>possible outcomes of uncertain events</a:t>
            </a:r>
            <a:r>
              <a:rPr lang="en-US" dirty="0"/>
              <a:t>.</a:t>
            </a:r>
          </a:p>
          <a:p>
            <a:endParaRPr lang="en-US" dirty="0"/>
          </a:p>
          <a:p>
            <a:r>
              <a:rPr lang="en-US" dirty="0"/>
              <a:t>And we’ll close off with key points of my research, scope of my research, and where it’s headed.</a:t>
            </a:r>
          </a:p>
        </p:txBody>
      </p:sp>
      <p:sp>
        <p:nvSpPr>
          <p:cNvPr id="4" name="Slide Number Placeholder 3"/>
          <p:cNvSpPr>
            <a:spLocks noGrp="1"/>
          </p:cNvSpPr>
          <p:nvPr>
            <p:ph type="sldNum" sz="quarter" idx="5"/>
          </p:nvPr>
        </p:nvSpPr>
        <p:spPr/>
        <p:txBody>
          <a:bodyPr/>
          <a:lstStyle/>
          <a:p>
            <a:fld id="{DB3F5BA7-69A6-4A7C-9C56-97D702DC4F93}" type="slidenum">
              <a:rPr lang="en-CA" smtClean="0"/>
              <a:t>2</a:t>
            </a:fld>
            <a:endParaRPr lang="en-CA"/>
          </a:p>
        </p:txBody>
      </p:sp>
    </p:spTree>
    <p:extLst>
      <p:ext uri="{BB962C8B-B14F-4D97-AF65-F5344CB8AC3E}">
        <p14:creationId xmlns:p14="http://schemas.microsoft.com/office/powerpoint/2010/main" val="29672543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dissect my topic question for a minute.</a:t>
            </a:r>
            <a:br>
              <a:rPr lang="en-US" dirty="0"/>
            </a:br>
            <a:r>
              <a:rPr lang="en-US" dirty="0"/>
              <a:t>What do I mean by “Computational methods in nuclear physics engineering”.</a:t>
            </a:r>
          </a:p>
          <a:p>
            <a:endParaRPr lang="en-US" dirty="0"/>
          </a:p>
          <a:p>
            <a:r>
              <a:rPr lang="en-CA" dirty="0"/>
              <a:t>To make sense of it, we need to look at it as two distinct items. “Computational methods and how it relates to Nuclear physics”</a:t>
            </a:r>
          </a:p>
          <a:p>
            <a:br>
              <a:rPr lang="en-CA" dirty="0"/>
            </a:br>
            <a:r>
              <a:rPr lang="en-CA" dirty="0"/>
              <a:t>So, lets start by looking into the specific area of nuclear physics my research revolves around…</a:t>
            </a:r>
            <a:br>
              <a:rPr lang="en-CA" dirty="0"/>
            </a:br>
            <a:endParaRPr lang="en-CA" dirty="0"/>
          </a:p>
          <a:p>
            <a:r>
              <a:rPr lang="en-CA" dirty="0"/>
              <a:t>We’ll introduce the basic structure of an atom and then analyze its role in producing nuclear power.</a:t>
            </a:r>
          </a:p>
          <a:p>
            <a:endParaRPr lang="en-CA" dirty="0"/>
          </a:p>
          <a:p>
            <a:r>
              <a:rPr lang="en-CA" dirty="0"/>
              <a:t>If we continuously magnify in the universe, we find that the smallest thing to exist is an atom.</a:t>
            </a:r>
            <a:br>
              <a:rPr lang="en-CA" dirty="0"/>
            </a:br>
            <a:r>
              <a:rPr lang="en-CA" dirty="0"/>
              <a:t>- It has electrons, neutrons, and protons. </a:t>
            </a:r>
          </a:p>
          <a:p>
            <a:r>
              <a:rPr lang="en-CA" dirty="0"/>
              <a:t>- And its center mass is called the nucleus (composed of protons and neutrons).</a:t>
            </a:r>
          </a:p>
          <a:p>
            <a:endParaRPr lang="en-CA" dirty="0"/>
          </a:p>
          <a:p>
            <a:r>
              <a:rPr lang="en-CA" dirty="0"/>
              <a:t>Nuclear physics simply refers to the study of the forces that keep the neutrons and protons bound inside a nucleus.</a:t>
            </a:r>
            <a:br>
              <a:rPr lang="en-CA" dirty="0"/>
            </a:br>
            <a:r>
              <a:rPr lang="en-CA" dirty="0"/>
              <a:t>	Quote: “These forces are within the nuclei of the atoms” Feynman lecture series Vol 1 page 12-12</a:t>
            </a:r>
          </a:p>
          <a:p>
            <a:endParaRPr lang="en-CA" dirty="0"/>
          </a:p>
        </p:txBody>
      </p:sp>
      <p:sp>
        <p:nvSpPr>
          <p:cNvPr id="4" name="Slide Number Placeholder 3"/>
          <p:cNvSpPr>
            <a:spLocks noGrp="1"/>
          </p:cNvSpPr>
          <p:nvPr>
            <p:ph type="sldNum" sz="quarter" idx="5"/>
          </p:nvPr>
        </p:nvSpPr>
        <p:spPr/>
        <p:txBody>
          <a:bodyPr/>
          <a:lstStyle/>
          <a:p>
            <a:fld id="{DB3F5BA7-69A6-4A7C-9C56-97D702DC4F93}" type="slidenum">
              <a:rPr lang="en-CA" smtClean="0"/>
              <a:t>3</a:t>
            </a:fld>
            <a:endParaRPr lang="en-CA"/>
          </a:p>
        </p:txBody>
      </p:sp>
    </p:spTree>
    <p:extLst>
      <p:ext uri="{BB962C8B-B14F-4D97-AF65-F5344CB8AC3E}">
        <p14:creationId xmlns:p14="http://schemas.microsoft.com/office/powerpoint/2010/main" val="621182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bit more to this, however.</a:t>
            </a:r>
          </a:p>
          <a:p>
            <a:endParaRPr lang="en-US" dirty="0"/>
          </a:p>
          <a:p>
            <a:pPr marL="171450" indent="-171450">
              <a:buFontTx/>
              <a:buChar char="-"/>
            </a:pPr>
            <a:r>
              <a:rPr lang="en-US" dirty="0"/>
              <a:t>An element is essentially a flavor of an atom. Denoted by their configuration of electrons, neutrons, and protons.</a:t>
            </a:r>
            <a:br>
              <a:rPr lang="en-US" dirty="0"/>
            </a:br>
            <a:endParaRPr lang="en-US" dirty="0"/>
          </a:p>
          <a:p>
            <a:pPr marL="171450" indent="-171450">
              <a:buFontTx/>
              <a:buChar char="-"/>
            </a:pPr>
            <a:r>
              <a:rPr lang="en-US" dirty="0"/>
              <a:t>Certain configurations are less stable others, but more on that later.</a:t>
            </a:r>
          </a:p>
          <a:p>
            <a:pPr marL="171450" indent="-171450">
              <a:buFontTx/>
              <a:buChar char="-"/>
            </a:pPr>
            <a:endParaRPr lang="en-US" dirty="0"/>
          </a:p>
          <a:p>
            <a:pPr marL="171450" indent="-171450">
              <a:buFontTx/>
              <a:buChar char="-"/>
            </a:pPr>
            <a:r>
              <a:rPr lang="en-US" dirty="0"/>
              <a:t>For the sake of the presentation, we’ll be looking at radioactive elements; in particular, Uranium.</a:t>
            </a:r>
          </a:p>
          <a:p>
            <a:pPr marL="171450" indent="-171450">
              <a:buFontTx/>
              <a:buChar char="-"/>
            </a:pPr>
            <a:endParaRPr lang="en-US" dirty="0"/>
          </a:p>
          <a:p>
            <a:pPr marL="171450" indent="-171450">
              <a:buFontTx/>
              <a:buChar char="-"/>
            </a:pPr>
            <a:r>
              <a:rPr lang="en-US" dirty="0"/>
              <a:t>Uranium’s configuration has 92 protons and 143 neutrons</a:t>
            </a:r>
            <a:endParaRPr lang="en-CA" dirty="0"/>
          </a:p>
        </p:txBody>
      </p:sp>
      <p:sp>
        <p:nvSpPr>
          <p:cNvPr id="4" name="Slide Number Placeholder 3"/>
          <p:cNvSpPr>
            <a:spLocks noGrp="1"/>
          </p:cNvSpPr>
          <p:nvPr>
            <p:ph type="sldNum" sz="quarter" idx="5"/>
          </p:nvPr>
        </p:nvSpPr>
        <p:spPr/>
        <p:txBody>
          <a:bodyPr/>
          <a:lstStyle/>
          <a:p>
            <a:fld id="{DB3F5BA7-69A6-4A7C-9C56-97D702DC4F93}" type="slidenum">
              <a:rPr lang="en-CA" smtClean="0"/>
              <a:t>4</a:t>
            </a:fld>
            <a:endParaRPr lang="en-CA"/>
          </a:p>
        </p:txBody>
      </p:sp>
    </p:spTree>
    <p:extLst>
      <p:ext uri="{BB962C8B-B14F-4D97-AF65-F5344CB8AC3E}">
        <p14:creationId xmlns:p14="http://schemas.microsoft.com/office/powerpoint/2010/main" val="1654599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dangerous, radioactive elements produces vast amount of energy.</a:t>
            </a:r>
          </a:p>
          <a:p>
            <a:endParaRPr lang="en-US" dirty="0"/>
          </a:p>
          <a:p>
            <a:r>
              <a:rPr lang="en-US" dirty="0"/>
              <a:t>But how does it do that? We take radioactive materials and create a series of controlled reactions.</a:t>
            </a:r>
          </a:p>
          <a:p>
            <a:r>
              <a:rPr lang="en-US" dirty="0"/>
              <a:t>	- More on controlled reactions in the next section.</a:t>
            </a:r>
            <a:br>
              <a:rPr lang="en-US" dirty="0"/>
            </a:br>
            <a:br>
              <a:rPr lang="en-US" dirty="0"/>
            </a:br>
            <a:r>
              <a:rPr lang="en-US" dirty="0"/>
              <a:t>Each reactions causes energy in the form of heat, which heats up the containing water around it.</a:t>
            </a:r>
            <a:br>
              <a:rPr lang="en-US" dirty="0"/>
            </a:br>
            <a:br>
              <a:rPr lang="en-US" dirty="0"/>
            </a:br>
            <a:r>
              <a:rPr lang="en-US" dirty="0"/>
              <a:t>This creates vapor which rises and spins a big turbine, producing power that we can use.</a:t>
            </a:r>
            <a:br>
              <a:rPr lang="en-US" dirty="0"/>
            </a:br>
            <a:br>
              <a:rPr lang="en-US" dirty="0"/>
            </a:br>
            <a:r>
              <a:rPr lang="en-US" dirty="0"/>
              <a:t>-------</a:t>
            </a:r>
            <a:br>
              <a:rPr lang="en-US" dirty="0"/>
            </a:br>
            <a:br>
              <a:rPr lang="en-US" dirty="0"/>
            </a:br>
            <a:r>
              <a:rPr lang="en-US" dirty="0"/>
              <a:t>My research will focus on the computational avenues around the controlled reactions of the radioactive material.</a:t>
            </a:r>
          </a:p>
        </p:txBody>
      </p:sp>
      <p:sp>
        <p:nvSpPr>
          <p:cNvPr id="4" name="Slide Number Placeholder 3"/>
          <p:cNvSpPr>
            <a:spLocks noGrp="1"/>
          </p:cNvSpPr>
          <p:nvPr>
            <p:ph type="sldNum" sz="quarter" idx="5"/>
          </p:nvPr>
        </p:nvSpPr>
        <p:spPr/>
        <p:txBody>
          <a:bodyPr/>
          <a:lstStyle/>
          <a:p>
            <a:fld id="{DB3F5BA7-69A6-4A7C-9C56-97D702DC4F93}" type="slidenum">
              <a:rPr lang="en-CA" smtClean="0"/>
              <a:t>5</a:t>
            </a:fld>
            <a:endParaRPr lang="en-CA"/>
          </a:p>
        </p:txBody>
      </p:sp>
    </p:spTree>
    <p:extLst>
      <p:ext uri="{BB962C8B-B14F-4D97-AF65-F5344CB8AC3E}">
        <p14:creationId xmlns:p14="http://schemas.microsoft.com/office/powerpoint/2010/main" val="148973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Now a-days you can’t mention computational avenues in computer science without acknowledging AI in some manner or form. </a:t>
            </a:r>
          </a:p>
          <a:p>
            <a:endParaRPr lang="en-CA"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One of my first thoughts on this topic was, “How is this being researched?”.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Turns out… people are already asking that question, no surprise, but the reality is that we are constantly trying to find new ways to optimize workflow, and nuclear researchers are no different. </a:t>
            </a:r>
            <a:endParaRPr lang="en-CA" sz="1200" kern="1200" dirty="0">
              <a:solidFill>
                <a:schemeClr val="tx1"/>
              </a:solidFill>
              <a:effectLst/>
              <a:latin typeface="+mn-lt"/>
              <a:ea typeface="+mn-ea"/>
              <a:cs typeface="+mn-cs"/>
            </a:endParaRPr>
          </a:p>
          <a:p>
            <a:endParaRPr lang="en-CA" dirty="0"/>
          </a:p>
        </p:txBody>
      </p:sp>
      <p:sp>
        <p:nvSpPr>
          <p:cNvPr id="4" name="Slide Number Placeholder 3"/>
          <p:cNvSpPr>
            <a:spLocks noGrp="1"/>
          </p:cNvSpPr>
          <p:nvPr>
            <p:ph type="sldNum" sz="quarter" idx="5"/>
          </p:nvPr>
        </p:nvSpPr>
        <p:spPr/>
        <p:txBody>
          <a:bodyPr/>
          <a:lstStyle/>
          <a:p>
            <a:fld id="{DB3F5BA7-69A6-4A7C-9C56-97D702DC4F93}" type="slidenum">
              <a:rPr lang="en-CA" smtClean="0"/>
              <a:t>6</a:t>
            </a:fld>
            <a:endParaRPr lang="en-CA"/>
          </a:p>
        </p:txBody>
      </p:sp>
    </p:spTree>
    <p:extLst>
      <p:ext uri="{BB962C8B-B14F-4D97-AF65-F5344CB8AC3E}">
        <p14:creationId xmlns:p14="http://schemas.microsoft.com/office/powerpoint/2010/main" val="750281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How was it used:</a:t>
            </a:r>
          </a:p>
          <a:p>
            <a:pPr lvl="1"/>
            <a:r>
              <a:rPr lang="en-US" dirty="0"/>
              <a:t>- Developing reactor control models.</a:t>
            </a:r>
          </a:p>
          <a:p>
            <a:pPr lvl="1"/>
            <a:r>
              <a:rPr lang="en-US" dirty="0"/>
              <a:t>- Automating Monte Carle simulations (more on that in the next section).</a:t>
            </a:r>
          </a:p>
          <a:p>
            <a:pPr lvl="1"/>
            <a:r>
              <a:rPr lang="en-US" dirty="0"/>
              <a:t>- Material degradation analysis.</a:t>
            </a:r>
          </a:p>
          <a:p>
            <a:pPr lvl="1"/>
            <a:r>
              <a:rPr lang="en-US" dirty="0"/>
              <a:t>- And designing experimental programs for advanced reactors.</a:t>
            </a:r>
          </a:p>
          <a:p>
            <a:endParaRPr lang="en-US" b="1" u="sng" dirty="0"/>
          </a:p>
          <a:p>
            <a:r>
              <a:rPr lang="en-US" b="1" u="sng" dirty="0"/>
              <a:t>Process:</a:t>
            </a:r>
          </a:p>
          <a:p>
            <a:pPr marL="628650" lvl="1" indent="-171450">
              <a:buFontTx/>
              <a:buChar char="-"/>
            </a:pPr>
            <a:r>
              <a:rPr lang="en-US" dirty="0"/>
              <a:t>They fed LLM prompts</a:t>
            </a:r>
          </a:p>
          <a:p>
            <a:pPr marL="628650" lvl="1" indent="-171450">
              <a:buFontTx/>
              <a:buChar char="-"/>
            </a:pPr>
            <a:r>
              <a:rPr lang="en-US" dirty="0"/>
              <a:t>Did Big R research with the response</a:t>
            </a:r>
          </a:p>
          <a:p>
            <a:pPr marL="628650" lvl="1" indent="-171450">
              <a:buFontTx/>
              <a:buChar char="-"/>
            </a:pPr>
            <a:r>
              <a:rPr lang="en-US" dirty="0"/>
              <a:t>Then refined the sample outputs with more prompts</a:t>
            </a:r>
          </a:p>
          <a:p>
            <a:pPr marL="628650" lvl="1" indent="-171450">
              <a:buFontTx/>
              <a:buChar char="-"/>
            </a:pPr>
            <a:r>
              <a:rPr lang="en-US" dirty="0"/>
              <a:t>This generated:</a:t>
            </a:r>
          </a:p>
          <a:p>
            <a:pPr lvl="1"/>
            <a:r>
              <a:rPr lang="en-US" dirty="0"/>
              <a:t>	- Hypotheses.</a:t>
            </a:r>
          </a:p>
          <a:p>
            <a:pPr lvl="1"/>
            <a:r>
              <a:rPr lang="en-US" dirty="0"/>
              <a:t>	- Code prototypes. </a:t>
            </a:r>
          </a:p>
          <a:p>
            <a:pPr lvl="1"/>
            <a:r>
              <a:rPr lang="en-US" dirty="0"/>
              <a:t>	- Research strategies.</a:t>
            </a:r>
          </a:p>
          <a:p>
            <a:r>
              <a:rPr lang="en-US" dirty="0"/>
              <a:t>	</a:t>
            </a:r>
            <a:endParaRPr lang="en-US" b="1" u="sng" dirty="0"/>
          </a:p>
          <a:p>
            <a:r>
              <a:rPr lang="en-US" b="1" u="sng" dirty="0"/>
              <a:t>Successful Results: </a:t>
            </a:r>
          </a:p>
          <a:p>
            <a:pPr lvl="1"/>
            <a:r>
              <a:rPr lang="en-US" dirty="0"/>
              <a:t>- Exploration.</a:t>
            </a:r>
          </a:p>
          <a:p>
            <a:pPr lvl="1"/>
            <a:r>
              <a:rPr lang="en-US" dirty="0"/>
              <a:t>- Literature synthesis.</a:t>
            </a:r>
          </a:p>
          <a:p>
            <a:pPr lvl="1"/>
            <a:r>
              <a:rPr lang="en-US" dirty="0"/>
              <a:t>- Workflow design.</a:t>
            </a:r>
          </a:p>
          <a:p>
            <a:pPr lvl="1"/>
            <a:r>
              <a:rPr lang="en-US" dirty="0"/>
              <a:t>- Successfully identifying research gaps </a:t>
            </a:r>
          </a:p>
          <a:p>
            <a:r>
              <a:rPr lang="en-US" dirty="0"/>
              <a:t>	- and generating plausible experimental frameworks. </a:t>
            </a:r>
            <a:endParaRPr lang="en-CA" dirty="0"/>
          </a:p>
        </p:txBody>
      </p:sp>
      <p:sp>
        <p:nvSpPr>
          <p:cNvPr id="4" name="Slide Number Placeholder 3"/>
          <p:cNvSpPr>
            <a:spLocks noGrp="1"/>
          </p:cNvSpPr>
          <p:nvPr>
            <p:ph type="sldNum" sz="quarter" idx="5"/>
          </p:nvPr>
        </p:nvSpPr>
        <p:spPr/>
        <p:txBody>
          <a:bodyPr/>
          <a:lstStyle/>
          <a:p>
            <a:fld id="{DB3F5BA7-69A6-4A7C-9C56-97D702DC4F93}" type="slidenum">
              <a:rPr lang="en-CA" smtClean="0"/>
              <a:t>7</a:t>
            </a:fld>
            <a:endParaRPr lang="en-CA"/>
          </a:p>
        </p:txBody>
      </p:sp>
    </p:spTree>
    <p:extLst>
      <p:ext uri="{BB962C8B-B14F-4D97-AF65-F5344CB8AC3E}">
        <p14:creationId xmlns:p14="http://schemas.microsoft.com/office/powerpoint/2010/main" val="545679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However, significant limitations emerged:</a:t>
            </a:r>
          </a:p>
          <a:p>
            <a:pPr lvl="1"/>
            <a:endParaRPr lang="en-US" dirty="0"/>
          </a:p>
          <a:p>
            <a:pPr lvl="1"/>
            <a:endParaRPr lang="en-US" dirty="0"/>
          </a:p>
          <a:p>
            <a:pPr marL="171450" lvl="0" indent="-171450">
              <a:buFontTx/>
              <a:buChar char="-"/>
            </a:pPr>
            <a:r>
              <a:rPr lang="en-US" b="1" u="sng" dirty="0"/>
              <a:t>Data and code access barriers: </a:t>
            </a:r>
          </a:p>
          <a:p>
            <a:pPr marL="628650" lvl="1" indent="-171450">
              <a:buFontTx/>
              <a:buChar char="-"/>
            </a:pPr>
            <a:r>
              <a:rPr lang="en-US" b="0" u="none" dirty="0"/>
              <a:t>The most significant limitation across projects was the inability to access or process in-house nuclear data. </a:t>
            </a:r>
          </a:p>
          <a:p>
            <a:pPr marL="628650" lvl="1" indent="-171450">
              <a:buFontTx/>
              <a:buChar char="-"/>
            </a:pPr>
            <a:r>
              <a:rPr lang="en-US" b="0" u="none" dirty="0"/>
              <a:t>Teams working with restricted codes could not generate functional inputs despite extensive prompting.</a:t>
            </a:r>
          </a:p>
          <a:p>
            <a:pPr lvl="0"/>
            <a:endParaRPr lang="en-US" b="0" u="none" dirty="0"/>
          </a:p>
          <a:p>
            <a:pPr marL="171450" lvl="0" indent="-171450">
              <a:buFontTx/>
              <a:buChar char="-"/>
            </a:pPr>
            <a:r>
              <a:rPr lang="en-US" b="1" u="sng" dirty="0"/>
              <a:t>Implementation depth: </a:t>
            </a:r>
          </a:p>
          <a:p>
            <a:pPr marL="628650" lvl="1" indent="-171450">
              <a:buFontTx/>
              <a:buChar char="-"/>
            </a:pPr>
            <a:r>
              <a:rPr lang="en-US" b="0" u="none" dirty="0"/>
              <a:t>While AI excels at high level work, it falls short with detailed implementations; consistently requiring human expertise. </a:t>
            </a:r>
          </a:p>
          <a:p>
            <a:pPr marL="628650" lvl="1" indent="-171450">
              <a:buFontTx/>
              <a:buChar char="-"/>
            </a:pPr>
            <a:r>
              <a:rPr lang="en-US" b="0" u="none" dirty="0"/>
              <a:t>It particularly struggled with Python code generation and mathematical solver development.</a:t>
            </a:r>
          </a:p>
          <a:p>
            <a:pPr lvl="0"/>
            <a:endParaRPr lang="en-US" b="0" u="none" dirty="0"/>
          </a:p>
          <a:p>
            <a:pPr marL="171450" lvl="0" indent="-171450">
              <a:buFontTx/>
              <a:buChar char="-"/>
            </a:pPr>
            <a:r>
              <a:rPr lang="en-US" b="1" u="sng" dirty="0"/>
              <a:t>Data access and validation: </a:t>
            </a:r>
          </a:p>
          <a:p>
            <a:pPr marL="628650" lvl="1" indent="-171450">
              <a:buFontTx/>
              <a:buChar char="-"/>
            </a:pPr>
            <a:r>
              <a:rPr lang="en-US" b="0" u="none" dirty="0"/>
              <a:t>Literary synthesis was hindered by paywalls, missing datasets, and a constant need for expert validation.</a:t>
            </a:r>
          </a:p>
          <a:p>
            <a:pPr marL="628650" lvl="1" indent="-171450">
              <a:buFontTx/>
              <a:buChar char="-"/>
            </a:pPr>
            <a:r>
              <a:rPr lang="en-US" b="0" u="none" dirty="0"/>
              <a:t>This led to the LLM missing out on state-of-the-art research.</a:t>
            </a:r>
          </a:p>
          <a:p>
            <a:pPr marL="457200" lvl="1" indent="0">
              <a:buFontTx/>
              <a:buNone/>
            </a:pPr>
            <a:endParaRPr lang="en-US" b="0" u="none" dirty="0"/>
          </a:p>
          <a:p>
            <a:pPr marL="171450" lvl="0" indent="-171450">
              <a:buFontTx/>
              <a:buChar char="-"/>
            </a:pPr>
            <a:r>
              <a:rPr lang="en-US" b="1" u="sng" dirty="0"/>
              <a:t>Technical accuracy: </a:t>
            </a:r>
          </a:p>
          <a:p>
            <a:pPr marL="628650" lvl="1" indent="-171450">
              <a:buFontTx/>
              <a:buChar char="-"/>
            </a:pPr>
            <a:r>
              <a:rPr lang="en-US" b="0" u="none" dirty="0"/>
              <a:t>Several projects encountered accuracy issues</a:t>
            </a:r>
          </a:p>
          <a:p>
            <a:pPr marL="628650" lvl="1" indent="-171450">
              <a:buFontTx/>
              <a:buChar char="-"/>
            </a:pPr>
            <a:r>
              <a:rPr lang="en-US" b="0" u="none" dirty="0"/>
              <a:t>e.g.: incorrect parameter values for heat transfer and problems with transparency.</a:t>
            </a:r>
            <a:endParaRPr lang="en-CA" b="0" u="none" dirty="0"/>
          </a:p>
        </p:txBody>
      </p:sp>
      <p:sp>
        <p:nvSpPr>
          <p:cNvPr id="4" name="Slide Number Placeholder 3"/>
          <p:cNvSpPr>
            <a:spLocks noGrp="1"/>
          </p:cNvSpPr>
          <p:nvPr>
            <p:ph type="sldNum" sz="quarter" idx="5"/>
          </p:nvPr>
        </p:nvSpPr>
        <p:spPr/>
        <p:txBody>
          <a:bodyPr/>
          <a:lstStyle/>
          <a:p>
            <a:fld id="{DB3F5BA7-69A6-4A7C-9C56-97D702DC4F93}" type="slidenum">
              <a:rPr lang="en-CA" smtClean="0"/>
              <a:t>8</a:t>
            </a:fld>
            <a:endParaRPr lang="en-CA"/>
          </a:p>
        </p:txBody>
      </p:sp>
    </p:spTree>
    <p:extLst>
      <p:ext uri="{BB962C8B-B14F-4D97-AF65-F5344CB8AC3E}">
        <p14:creationId xmlns:p14="http://schemas.microsoft.com/office/powerpoint/2010/main" val="3022285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The successful outcomes resulted:</a:t>
            </a:r>
          </a:p>
          <a:p>
            <a:r>
              <a:rPr lang="en-US" dirty="0"/>
              <a:t>- Experts treat AI as a tool rather than a replacement for physics-based methods. </a:t>
            </a:r>
          </a:p>
          <a:p>
            <a:endParaRPr lang="en-US" dirty="0"/>
          </a:p>
          <a:p>
            <a:r>
              <a:rPr lang="en-US" b="1" u="sng" dirty="0"/>
              <a:t>Conclusion</a:t>
            </a:r>
          </a:p>
          <a:p>
            <a:pPr marL="171450" indent="-171450">
              <a:buFontTx/>
              <a:buChar char="-"/>
            </a:pPr>
            <a:r>
              <a:rPr lang="en-US" dirty="0"/>
              <a:t>The research demonstrated strengths for rapid iteration and cross-disciplinary synthesis.</a:t>
            </a:r>
          </a:p>
          <a:p>
            <a:pPr marL="171450" indent="-171450">
              <a:buFontTx/>
              <a:buChar char="-"/>
            </a:pPr>
            <a:r>
              <a:rPr lang="en-US" dirty="0"/>
              <a:t>It still showed a clear need for curated nuclear-specific datasets, workflow automation, and specialized model development.</a:t>
            </a:r>
          </a:p>
          <a:p>
            <a:pPr marL="171450" indent="-171450">
              <a:buFontTx/>
              <a:buChar char="-"/>
            </a:pPr>
            <a:r>
              <a:rPr lang="en-US" dirty="0"/>
              <a:t>This shows the initial foundational steps of realistically integrating AI as a tool to nuclear physics engineering.</a:t>
            </a:r>
            <a:endParaRPr lang="en-CA" dirty="0"/>
          </a:p>
        </p:txBody>
      </p:sp>
      <p:sp>
        <p:nvSpPr>
          <p:cNvPr id="4" name="Slide Number Placeholder 3"/>
          <p:cNvSpPr>
            <a:spLocks noGrp="1"/>
          </p:cNvSpPr>
          <p:nvPr>
            <p:ph type="sldNum" sz="quarter" idx="5"/>
          </p:nvPr>
        </p:nvSpPr>
        <p:spPr/>
        <p:txBody>
          <a:bodyPr/>
          <a:lstStyle/>
          <a:p>
            <a:fld id="{DB3F5BA7-69A6-4A7C-9C56-97D702DC4F93}" type="slidenum">
              <a:rPr lang="en-CA" smtClean="0"/>
              <a:t>9</a:t>
            </a:fld>
            <a:endParaRPr lang="en-CA"/>
          </a:p>
        </p:txBody>
      </p:sp>
    </p:spTree>
    <p:extLst>
      <p:ext uri="{BB962C8B-B14F-4D97-AF65-F5344CB8AC3E}">
        <p14:creationId xmlns:p14="http://schemas.microsoft.com/office/powerpoint/2010/main" val="3994910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IBM describes it as... " a mathematical technique ... used to estimate the possible outcomes of an uncertain event"</a:t>
            </a:r>
          </a:p>
        </p:txBody>
      </p:sp>
      <p:sp>
        <p:nvSpPr>
          <p:cNvPr id="4" name="Slide Number Placeholder 3"/>
          <p:cNvSpPr>
            <a:spLocks noGrp="1"/>
          </p:cNvSpPr>
          <p:nvPr>
            <p:ph type="sldNum" sz="quarter" idx="5"/>
          </p:nvPr>
        </p:nvSpPr>
        <p:spPr/>
        <p:txBody>
          <a:bodyPr/>
          <a:lstStyle/>
          <a:p>
            <a:fld id="{DB3F5BA7-69A6-4A7C-9C56-97D702DC4F93}" type="slidenum">
              <a:rPr lang="en-CA" smtClean="0"/>
              <a:t>10</a:t>
            </a:fld>
            <a:endParaRPr lang="en-CA"/>
          </a:p>
        </p:txBody>
      </p:sp>
    </p:spTree>
    <p:extLst>
      <p:ext uri="{BB962C8B-B14F-4D97-AF65-F5344CB8AC3E}">
        <p14:creationId xmlns:p14="http://schemas.microsoft.com/office/powerpoint/2010/main" val="818816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7947F-FE50-B6B5-9C3E-AF1ACA5E04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7B0C0A1B-DD68-2182-C359-CDE31E4DD7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D194BBFA-C678-2888-6C2C-96EABE0118E6}"/>
              </a:ext>
            </a:extLst>
          </p:cNvPr>
          <p:cNvSpPr>
            <a:spLocks noGrp="1"/>
          </p:cNvSpPr>
          <p:nvPr>
            <p:ph type="dt" sz="half" idx="10"/>
          </p:nvPr>
        </p:nvSpPr>
        <p:spPr/>
        <p:txBody>
          <a:bodyPr/>
          <a:lstStyle/>
          <a:p>
            <a:fld id="{09FF8A6A-D92C-4685-8394-A50FFF47B535}" type="datetimeFigureOut">
              <a:rPr lang="en-CA" smtClean="0"/>
              <a:t>2025-12-13</a:t>
            </a:fld>
            <a:endParaRPr lang="en-CA"/>
          </a:p>
        </p:txBody>
      </p:sp>
      <p:sp>
        <p:nvSpPr>
          <p:cNvPr id="5" name="Footer Placeholder 4">
            <a:extLst>
              <a:ext uri="{FF2B5EF4-FFF2-40B4-BE49-F238E27FC236}">
                <a16:creationId xmlns:a16="http://schemas.microsoft.com/office/drawing/2014/main" id="{A925F94E-66DA-C5F1-E498-57BBC08FDBD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52AAC23-3EB3-935C-459D-35A6917365F5}"/>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1572173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6B85D-5CC0-3BED-D476-9365871017D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E350D40-FD5F-A080-68F5-0DD62A07E1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3E2A67E-DB9E-B799-A5EF-B3CC79A3C7F2}"/>
              </a:ext>
            </a:extLst>
          </p:cNvPr>
          <p:cNvSpPr>
            <a:spLocks noGrp="1"/>
          </p:cNvSpPr>
          <p:nvPr>
            <p:ph type="dt" sz="half" idx="10"/>
          </p:nvPr>
        </p:nvSpPr>
        <p:spPr/>
        <p:txBody>
          <a:bodyPr/>
          <a:lstStyle/>
          <a:p>
            <a:fld id="{09FF8A6A-D92C-4685-8394-A50FFF47B535}" type="datetimeFigureOut">
              <a:rPr lang="en-CA" smtClean="0"/>
              <a:t>2025-12-13</a:t>
            </a:fld>
            <a:endParaRPr lang="en-CA"/>
          </a:p>
        </p:txBody>
      </p:sp>
      <p:sp>
        <p:nvSpPr>
          <p:cNvPr id="5" name="Footer Placeholder 4">
            <a:extLst>
              <a:ext uri="{FF2B5EF4-FFF2-40B4-BE49-F238E27FC236}">
                <a16:creationId xmlns:a16="http://schemas.microsoft.com/office/drawing/2014/main" id="{16E60D9F-B8FE-7820-FB9D-628E1310F9F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9A2C4C1-0111-4FE6-C455-A1508DD2FA95}"/>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663955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AA80B-0937-88A3-FDAD-A50DB2A98B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7F6EA2DC-9EB6-C183-8170-3B7AF2D8D8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ADBF40-1E04-D648-8823-2A8AA217CB0B}"/>
              </a:ext>
            </a:extLst>
          </p:cNvPr>
          <p:cNvSpPr>
            <a:spLocks noGrp="1"/>
          </p:cNvSpPr>
          <p:nvPr>
            <p:ph type="dt" sz="half" idx="10"/>
          </p:nvPr>
        </p:nvSpPr>
        <p:spPr/>
        <p:txBody>
          <a:bodyPr/>
          <a:lstStyle/>
          <a:p>
            <a:fld id="{09FF8A6A-D92C-4685-8394-A50FFF47B535}" type="datetimeFigureOut">
              <a:rPr lang="en-CA" smtClean="0"/>
              <a:t>2025-12-13</a:t>
            </a:fld>
            <a:endParaRPr lang="en-CA"/>
          </a:p>
        </p:txBody>
      </p:sp>
      <p:sp>
        <p:nvSpPr>
          <p:cNvPr id="5" name="Footer Placeholder 4">
            <a:extLst>
              <a:ext uri="{FF2B5EF4-FFF2-40B4-BE49-F238E27FC236}">
                <a16:creationId xmlns:a16="http://schemas.microsoft.com/office/drawing/2014/main" id="{2D078229-5B9F-AAE7-19A0-BF4FAEBD183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344E34C-9B2E-49E0-3BF1-B00DEE024EC5}"/>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2559404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9FDF9-E165-4812-220A-46D0AA4A841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EBC307F-85AD-F7F1-279A-736F2DDE99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73016C2-47AC-5038-17FA-C1D91ACB7F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895CAE8D-893A-C046-C9CA-F10446587A64}"/>
              </a:ext>
            </a:extLst>
          </p:cNvPr>
          <p:cNvSpPr>
            <a:spLocks noGrp="1"/>
          </p:cNvSpPr>
          <p:nvPr>
            <p:ph type="dt" sz="half" idx="10"/>
          </p:nvPr>
        </p:nvSpPr>
        <p:spPr/>
        <p:txBody>
          <a:bodyPr/>
          <a:lstStyle/>
          <a:p>
            <a:fld id="{09FF8A6A-D92C-4685-8394-A50FFF47B535}" type="datetimeFigureOut">
              <a:rPr lang="en-CA" smtClean="0"/>
              <a:t>2025-12-13</a:t>
            </a:fld>
            <a:endParaRPr lang="en-CA"/>
          </a:p>
        </p:txBody>
      </p:sp>
      <p:sp>
        <p:nvSpPr>
          <p:cNvPr id="6" name="Footer Placeholder 5">
            <a:extLst>
              <a:ext uri="{FF2B5EF4-FFF2-40B4-BE49-F238E27FC236}">
                <a16:creationId xmlns:a16="http://schemas.microsoft.com/office/drawing/2014/main" id="{15F2A20F-93C6-853C-C70E-571D93FD2A6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2B9D24F-0EC0-C233-DB1F-E0AB946B1404}"/>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1512565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C9ACC-F1EB-B80F-826D-43D1463A5B3A}"/>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5EC260D-DACB-379E-C293-1265D177B1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AE4597-12EC-BEA0-7481-9D3DF5FA84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D4014D5A-4F4E-8851-F217-8E7836642E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F871D6-CC23-4DB1-7F3E-E11C1AF94F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F31A1D6F-F462-2D91-5F26-0AA10B9984E5}"/>
              </a:ext>
            </a:extLst>
          </p:cNvPr>
          <p:cNvSpPr>
            <a:spLocks noGrp="1"/>
          </p:cNvSpPr>
          <p:nvPr>
            <p:ph type="dt" sz="half" idx="10"/>
          </p:nvPr>
        </p:nvSpPr>
        <p:spPr/>
        <p:txBody>
          <a:bodyPr/>
          <a:lstStyle/>
          <a:p>
            <a:fld id="{09FF8A6A-D92C-4685-8394-A50FFF47B535}" type="datetimeFigureOut">
              <a:rPr lang="en-CA" smtClean="0"/>
              <a:t>2025-12-13</a:t>
            </a:fld>
            <a:endParaRPr lang="en-CA"/>
          </a:p>
        </p:txBody>
      </p:sp>
      <p:sp>
        <p:nvSpPr>
          <p:cNvPr id="8" name="Footer Placeholder 7">
            <a:extLst>
              <a:ext uri="{FF2B5EF4-FFF2-40B4-BE49-F238E27FC236}">
                <a16:creationId xmlns:a16="http://schemas.microsoft.com/office/drawing/2014/main" id="{C2A2E12C-6C89-5A01-E071-3AB8F3FA77CF}"/>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A9110C46-C6C0-7698-A98D-B8867385DDD6}"/>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3614063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529E8-6B9F-C310-0AA1-7B7D12A3F8AD}"/>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3934E25-36B3-A4FC-AEB0-85FF4E23E89C}"/>
              </a:ext>
            </a:extLst>
          </p:cNvPr>
          <p:cNvSpPr>
            <a:spLocks noGrp="1"/>
          </p:cNvSpPr>
          <p:nvPr>
            <p:ph type="dt" sz="half" idx="10"/>
          </p:nvPr>
        </p:nvSpPr>
        <p:spPr/>
        <p:txBody>
          <a:bodyPr/>
          <a:lstStyle/>
          <a:p>
            <a:fld id="{09FF8A6A-D92C-4685-8394-A50FFF47B535}" type="datetimeFigureOut">
              <a:rPr lang="en-CA" smtClean="0"/>
              <a:t>2025-12-13</a:t>
            </a:fld>
            <a:endParaRPr lang="en-CA"/>
          </a:p>
        </p:txBody>
      </p:sp>
      <p:sp>
        <p:nvSpPr>
          <p:cNvPr id="4" name="Footer Placeholder 3">
            <a:extLst>
              <a:ext uri="{FF2B5EF4-FFF2-40B4-BE49-F238E27FC236}">
                <a16:creationId xmlns:a16="http://schemas.microsoft.com/office/drawing/2014/main" id="{86AEBACF-2219-C07D-7CBD-6EC3669E8D3F}"/>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65D234A2-3A2C-C494-BDB1-768EAD705ABE}"/>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1648976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872B6E-BD88-2911-3D5A-B7D49ECF90F5}"/>
              </a:ext>
            </a:extLst>
          </p:cNvPr>
          <p:cNvSpPr>
            <a:spLocks noGrp="1"/>
          </p:cNvSpPr>
          <p:nvPr>
            <p:ph type="dt" sz="half" idx="10"/>
          </p:nvPr>
        </p:nvSpPr>
        <p:spPr/>
        <p:txBody>
          <a:bodyPr/>
          <a:lstStyle/>
          <a:p>
            <a:fld id="{09FF8A6A-D92C-4685-8394-A50FFF47B535}" type="datetimeFigureOut">
              <a:rPr lang="en-CA" smtClean="0"/>
              <a:t>2025-12-13</a:t>
            </a:fld>
            <a:endParaRPr lang="en-CA"/>
          </a:p>
        </p:txBody>
      </p:sp>
      <p:sp>
        <p:nvSpPr>
          <p:cNvPr id="3" name="Footer Placeholder 2">
            <a:extLst>
              <a:ext uri="{FF2B5EF4-FFF2-40B4-BE49-F238E27FC236}">
                <a16:creationId xmlns:a16="http://schemas.microsoft.com/office/drawing/2014/main" id="{5CEB8D22-994B-96AC-25FC-CC98688BCEDC}"/>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260FC372-3370-8D5D-15B0-F6A8D607A335}"/>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1154064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A31FC-AF2D-5F82-3D38-044438CAD9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E3B8866-2A11-D3AF-422A-D0594CED26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45D8795E-ACAC-2F4A-C898-22ED78037D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A36245-608D-1BCD-A6B0-C95E604F38C1}"/>
              </a:ext>
            </a:extLst>
          </p:cNvPr>
          <p:cNvSpPr>
            <a:spLocks noGrp="1"/>
          </p:cNvSpPr>
          <p:nvPr>
            <p:ph type="dt" sz="half" idx="10"/>
          </p:nvPr>
        </p:nvSpPr>
        <p:spPr/>
        <p:txBody>
          <a:bodyPr/>
          <a:lstStyle/>
          <a:p>
            <a:fld id="{09FF8A6A-D92C-4685-8394-A50FFF47B535}" type="datetimeFigureOut">
              <a:rPr lang="en-CA" smtClean="0"/>
              <a:t>2025-12-13</a:t>
            </a:fld>
            <a:endParaRPr lang="en-CA"/>
          </a:p>
        </p:txBody>
      </p:sp>
      <p:sp>
        <p:nvSpPr>
          <p:cNvPr id="6" name="Footer Placeholder 5">
            <a:extLst>
              <a:ext uri="{FF2B5EF4-FFF2-40B4-BE49-F238E27FC236}">
                <a16:creationId xmlns:a16="http://schemas.microsoft.com/office/drawing/2014/main" id="{20C5EF00-68B8-2BBC-3B43-039C83872F4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70A0181-833F-FE19-8922-2ECE5DF64F20}"/>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2792280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7A26E-2B2A-D6FF-4ED6-B5C995972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D1583F82-AFF4-7D2D-9609-BB0955BAD3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C002471C-2D1B-B1D3-D787-CFC1D1F7DF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F58145-CD24-C7D9-3F78-68CF3A755D7A}"/>
              </a:ext>
            </a:extLst>
          </p:cNvPr>
          <p:cNvSpPr>
            <a:spLocks noGrp="1"/>
          </p:cNvSpPr>
          <p:nvPr>
            <p:ph type="dt" sz="half" idx="10"/>
          </p:nvPr>
        </p:nvSpPr>
        <p:spPr/>
        <p:txBody>
          <a:bodyPr/>
          <a:lstStyle/>
          <a:p>
            <a:fld id="{09FF8A6A-D92C-4685-8394-A50FFF47B535}" type="datetimeFigureOut">
              <a:rPr lang="en-CA" smtClean="0"/>
              <a:t>2025-12-13</a:t>
            </a:fld>
            <a:endParaRPr lang="en-CA"/>
          </a:p>
        </p:txBody>
      </p:sp>
      <p:sp>
        <p:nvSpPr>
          <p:cNvPr id="6" name="Footer Placeholder 5">
            <a:extLst>
              <a:ext uri="{FF2B5EF4-FFF2-40B4-BE49-F238E27FC236}">
                <a16:creationId xmlns:a16="http://schemas.microsoft.com/office/drawing/2014/main" id="{EC92EB7B-EF79-F0D0-8079-2ED5C151E64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6BD7DB2-FB10-70AC-F758-E5716DAE0326}"/>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3793535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5444F-AD81-384E-C1C3-DFFC6C2390E6}"/>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42D0211-CEE5-95E9-5FF7-524288AEF1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C6FABAC-B9B0-AB94-F6CB-6E07F8FB6DCB}"/>
              </a:ext>
            </a:extLst>
          </p:cNvPr>
          <p:cNvSpPr>
            <a:spLocks noGrp="1"/>
          </p:cNvSpPr>
          <p:nvPr>
            <p:ph type="dt" sz="half" idx="10"/>
          </p:nvPr>
        </p:nvSpPr>
        <p:spPr/>
        <p:txBody>
          <a:bodyPr/>
          <a:lstStyle/>
          <a:p>
            <a:fld id="{09FF8A6A-D92C-4685-8394-A50FFF47B535}" type="datetimeFigureOut">
              <a:rPr lang="en-CA" smtClean="0"/>
              <a:t>2025-12-13</a:t>
            </a:fld>
            <a:endParaRPr lang="en-CA"/>
          </a:p>
        </p:txBody>
      </p:sp>
      <p:sp>
        <p:nvSpPr>
          <p:cNvPr id="5" name="Footer Placeholder 4">
            <a:extLst>
              <a:ext uri="{FF2B5EF4-FFF2-40B4-BE49-F238E27FC236}">
                <a16:creationId xmlns:a16="http://schemas.microsoft.com/office/drawing/2014/main" id="{4FAB4E05-7455-551D-4DBC-378BCB950CB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A34294F-26AF-DD77-6574-D6D7E589C48C}"/>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4013475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454B92-2D23-BFFD-6F97-6D500E70D9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AB37023-1035-93DB-0AD0-DC1BC8D9CF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84BF89F-93EE-FE33-F37C-65E23202A349}"/>
              </a:ext>
            </a:extLst>
          </p:cNvPr>
          <p:cNvSpPr>
            <a:spLocks noGrp="1"/>
          </p:cNvSpPr>
          <p:nvPr>
            <p:ph type="dt" sz="half" idx="10"/>
          </p:nvPr>
        </p:nvSpPr>
        <p:spPr/>
        <p:txBody>
          <a:bodyPr/>
          <a:lstStyle/>
          <a:p>
            <a:fld id="{09FF8A6A-D92C-4685-8394-A50FFF47B535}" type="datetimeFigureOut">
              <a:rPr lang="en-CA" smtClean="0"/>
              <a:t>2025-12-13</a:t>
            </a:fld>
            <a:endParaRPr lang="en-CA"/>
          </a:p>
        </p:txBody>
      </p:sp>
      <p:sp>
        <p:nvSpPr>
          <p:cNvPr id="5" name="Footer Placeholder 4">
            <a:extLst>
              <a:ext uri="{FF2B5EF4-FFF2-40B4-BE49-F238E27FC236}">
                <a16:creationId xmlns:a16="http://schemas.microsoft.com/office/drawing/2014/main" id="{0CC132E2-F211-294D-9638-C537CF0D60B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E9D513D-3531-9CB7-BFFE-082B0EB43B3F}"/>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2079136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CF4369-A3BC-4E7C-B283-E6EF64676B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BC163CC-870B-9668-2A07-DCA47ABAFC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C4CF04E-733A-201C-BD21-AC291887D0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FF8A6A-D92C-4685-8394-A50FFF47B535}" type="datetimeFigureOut">
              <a:rPr lang="en-CA" smtClean="0"/>
              <a:t>2025-12-13</a:t>
            </a:fld>
            <a:endParaRPr lang="en-CA"/>
          </a:p>
        </p:txBody>
      </p:sp>
      <p:sp>
        <p:nvSpPr>
          <p:cNvPr id="5" name="Footer Placeholder 4">
            <a:extLst>
              <a:ext uri="{FF2B5EF4-FFF2-40B4-BE49-F238E27FC236}">
                <a16:creationId xmlns:a16="http://schemas.microsoft.com/office/drawing/2014/main" id="{FA9CF9F8-8694-C773-7A88-DDA420A3D5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9942BA81-2A7F-21A0-04ED-90D65972E1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F86C79-2808-4DBC-9943-11581068E7E4}" type="slidenum">
              <a:rPr lang="en-CA" smtClean="0"/>
              <a:t>‹#›</a:t>
            </a:fld>
            <a:endParaRPr lang="en-CA"/>
          </a:p>
        </p:txBody>
      </p:sp>
    </p:spTree>
    <p:extLst>
      <p:ext uri="{BB962C8B-B14F-4D97-AF65-F5344CB8AC3E}">
        <p14:creationId xmlns:p14="http://schemas.microsoft.com/office/powerpoint/2010/main" val="13420473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FDDDF4-4B80-D3C1-F4CA-520C2A7D9538}"/>
              </a:ext>
            </a:extLst>
          </p:cNvPr>
          <p:cNvSpPr>
            <a:spLocks noGrp="1"/>
          </p:cNvSpPr>
          <p:nvPr>
            <p:ph type="ctrTitle"/>
          </p:nvPr>
        </p:nvSpPr>
        <p:spPr>
          <a:xfrm>
            <a:off x="838199" y="870488"/>
            <a:ext cx="10512552" cy="2977619"/>
          </a:xfrm>
        </p:spPr>
        <p:txBody>
          <a:bodyPr anchor="b">
            <a:normAutofit fontScale="90000"/>
          </a:bodyPr>
          <a:lstStyle/>
          <a:p>
            <a:pPr algn="l"/>
            <a:r>
              <a:rPr lang="en-CA" sz="5400" dirty="0"/>
              <a:t>What are the modern </a:t>
            </a:r>
            <a:br>
              <a:rPr lang="en-CA" sz="5400" dirty="0"/>
            </a:br>
            <a:r>
              <a:rPr lang="en-CA" sz="5400" dirty="0"/>
              <a:t>computational techniques </a:t>
            </a:r>
            <a:br>
              <a:rPr lang="en-CA" sz="5400" dirty="0"/>
            </a:br>
            <a:r>
              <a:rPr lang="en-CA" sz="5400" dirty="0"/>
              <a:t>employed for nuclear physics engineering?</a:t>
            </a:r>
          </a:p>
        </p:txBody>
      </p:sp>
      <p:sp>
        <p:nvSpPr>
          <p:cNvPr id="3" name="Subtitle 2">
            <a:extLst>
              <a:ext uri="{FF2B5EF4-FFF2-40B4-BE49-F238E27FC236}">
                <a16:creationId xmlns:a16="http://schemas.microsoft.com/office/drawing/2014/main" id="{65BF105C-4551-3206-B997-95344A072784}"/>
              </a:ext>
            </a:extLst>
          </p:cNvPr>
          <p:cNvSpPr>
            <a:spLocks noGrp="1"/>
          </p:cNvSpPr>
          <p:nvPr>
            <p:ph type="subTitle" idx="1"/>
          </p:nvPr>
        </p:nvSpPr>
        <p:spPr>
          <a:xfrm>
            <a:off x="838199" y="4983276"/>
            <a:ext cx="10512552" cy="1126680"/>
          </a:xfrm>
        </p:spPr>
        <p:txBody>
          <a:bodyPr>
            <a:normAutofit/>
          </a:bodyPr>
          <a:lstStyle/>
          <a:p>
            <a:pPr algn="l"/>
            <a:r>
              <a:rPr lang="en-US" dirty="0"/>
              <a:t>By: Avery Vallée-Vézina</a:t>
            </a:r>
            <a:br>
              <a:rPr lang="en-US" dirty="0"/>
            </a:br>
            <a:r>
              <a:rPr lang="en-US" dirty="0"/>
              <a:t>Class: Advance Topics I, Assignment 4</a:t>
            </a:r>
            <a:br>
              <a:rPr lang="en-US" dirty="0"/>
            </a:br>
            <a:r>
              <a:rPr lang="en-US" dirty="0"/>
              <a:t>Date: 2025-12-15</a:t>
            </a:r>
            <a:endParaRPr lang="en-CA" dirty="0"/>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4545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0481A6-4012-C323-D56C-1891B4237DB8}"/>
              </a:ext>
            </a:extLst>
          </p:cNvPr>
          <p:cNvSpPr>
            <a:spLocks noGrp="1"/>
          </p:cNvSpPr>
          <p:nvPr>
            <p:ph type="title"/>
          </p:nvPr>
        </p:nvSpPr>
        <p:spPr>
          <a:xfrm>
            <a:off x="841248" y="548640"/>
            <a:ext cx="3600860" cy="5431536"/>
          </a:xfrm>
        </p:spPr>
        <p:txBody>
          <a:bodyPr>
            <a:normAutofit/>
          </a:bodyPr>
          <a:lstStyle/>
          <a:p>
            <a:r>
              <a:rPr lang="en-US" sz="5400"/>
              <a:t>Agenda</a:t>
            </a:r>
            <a:endParaRPr lang="en-CA" sz="54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8586AAA-2647-4F34-957A-72277A2B3B46}"/>
              </a:ext>
            </a:extLst>
          </p:cNvPr>
          <p:cNvSpPr>
            <a:spLocks noGrp="1"/>
          </p:cNvSpPr>
          <p:nvPr>
            <p:ph idx="1"/>
          </p:nvPr>
        </p:nvSpPr>
        <p:spPr>
          <a:xfrm>
            <a:off x="5126418" y="552091"/>
            <a:ext cx="6224335" cy="5431536"/>
          </a:xfrm>
        </p:spPr>
        <p:txBody>
          <a:bodyPr anchor="ctr">
            <a:normAutofit/>
          </a:bodyPr>
          <a:lstStyle/>
          <a:p>
            <a:r>
              <a:rPr lang="en-US" sz="2200" b="1" u="sng" dirty="0"/>
              <a:t>Introduction:</a:t>
            </a:r>
            <a:endParaRPr lang="en-CA" sz="2200" b="1" u="sng" dirty="0"/>
          </a:p>
          <a:p>
            <a:pPr lvl="1"/>
            <a:r>
              <a:rPr lang="en-CA" sz="2200" dirty="0"/>
              <a:t>Overview of the physics required for understanding the further sections</a:t>
            </a:r>
          </a:p>
          <a:p>
            <a:r>
              <a:rPr lang="en-CA" sz="2200" b="1" u="sng" dirty="0"/>
              <a:t>Section 1:</a:t>
            </a:r>
          </a:p>
          <a:p>
            <a:pPr lvl="1"/>
            <a:r>
              <a:rPr lang="en-CA" sz="2200" dirty="0"/>
              <a:t>LLMs in nuclear physics research</a:t>
            </a:r>
          </a:p>
          <a:p>
            <a:r>
              <a:rPr lang="en-CA" sz="2200" b="1" u="sng" dirty="0"/>
              <a:t>Section 2:</a:t>
            </a:r>
          </a:p>
          <a:p>
            <a:pPr lvl="1"/>
            <a:r>
              <a:rPr lang="en-CA" sz="2200" dirty="0"/>
              <a:t>Use case of computational models</a:t>
            </a:r>
          </a:p>
          <a:p>
            <a:r>
              <a:rPr lang="en-CA" sz="2200" b="1" u="sng" dirty="0"/>
              <a:t>Conclusion:</a:t>
            </a:r>
          </a:p>
          <a:p>
            <a:pPr lvl="1"/>
            <a:r>
              <a:rPr lang="en-US" sz="2200" dirty="0"/>
              <a:t>Overview of key findings, scope of my research, and where it’s headed.</a:t>
            </a:r>
          </a:p>
        </p:txBody>
      </p:sp>
    </p:spTree>
    <p:extLst>
      <p:ext uri="{BB962C8B-B14F-4D97-AF65-F5344CB8AC3E}">
        <p14:creationId xmlns:p14="http://schemas.microsoft.com/office/powerpoint/2010/main" val="820903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94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94AE9D-9BAA-4CCB-DF2C-F0D4A508B9FE}"/>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Introduction</a:t>
            </a:r>
            <a:br>
              <a:rPr lang="en-US" sz="2600" kern="1200">
                <a:solidFill>
                  <a:srgbClr val="FFFFFF"/>
                </a:solidFill>
                <a:latin typeface="+mj-lt"/>
                <a:ea typeface="+mj-ea"/>
                <a:cs typeface="+mj-cs"/>
              </a:rPr>
            </a:br>
            <a:r>
              <a:rPr lang="en-US" sz="2600" kern="1200">
                <a:solidFill>
                  <a:srgbClr val="FFFFFF"/>
                </a:solidFill>
                <a:latin typeface="+mj-lt"/>
                <a:ea typeface="+mj-ea"/>
                <a:cs typeface="+mj-cs"/>
              </a:rPr>
              <a:t>Dissecting my topic question (Revisit)</a:t>
            </a:r>
          </a:p>
        </p:txBody>
      </p:sp>
      <p:pic>
        <p:nvPicPr>
          <p:cNvPr id="13" name="Picture 12">
            <a:extLst>
              <a:ext uri="{FF2B5EF4-FFF2-40B4-BE49-F238E27FC236}">
                <a16:creationId xmlns:a16="http://schemas.microsoft.com/office/drawing/2014/main" id="{2DFC8A93-A8E8-E525-13D9-92BBA0B2AAD7}"/>
              </a:ext>
            </a:extLst>
          </p:cNvPr>
          <p:cNvPicPr>
            <a:picLocks noChangeAspect="1"/>
          </p:cNvPicPr>
          <p:nvPr/>
        </p:nvPicPr>
        <p:blipFill>
          <a:blip r:embed="rId3"/>
          <a:stretch>
            <a:fillRect/>
          </a:stretch>
        </p:blipFill>
        <p:spPr>
          <a:xfrm>
            <a:off x="4635138" y="961812"/>
            <a:ext cx="5995122" cy="4930987"/>
          </a:xfrm>
          <a:prstGeom prst="rect">
            <a:avLst/>
          </a:prstGeom>
        </p:spPr>
      </p:pic>
    </p:spTree>
    <p:extLst>
      <p:ext uri="{BB962C8B-B14F-4D97-AF65-F5344CB8AC3E}">
        <p14:creationId xmlns:p14="http://schemas.microsoft.com/office/powerpoint/2010/main" val="1127874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A3F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iagram of a diagram of a molecule&#10;&#10;AI-generated content may be incorrect.">
            <a:extLst>
              <a:ext uri="{FF2B5EF4-FFF2-40B4-BE49-F238E27FC236}">
                <a16:creationId xmlns:a16="http://schemas.microsoft.com/office/drawing/2014/main" id="{47081D29-CE3E-0E55-AF9A-AD2291F40E7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53943" y="643467"/>
            <a:ext cx="8284113" cy="5571066"/>
          </a:xfrm>
          <a:prstGeom prst="rect">
            <a:avLst/>
          </a:prstGeom>
        </p:spPr>
      </p:pic>
    </p:spTree>
    <p:extLst>
      <p:ext uri="{BB962C8B-B14F-4D97-AF65-F5344CB8AC3E}">
        <p14:creationId xmlns:p14="http://schemas.microsoft.com/office/powerpoint/2010/main" val="798377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486CA-B432-09AA-8A28-707692048D1E}"/>
              </a:ext>
            </a:extLst>
          </p:cNvPr>
          <p:cNvSpPr>
            <a:spLocks noGrp="1"/>
          </p:cNvSpPr>
          <p:nvPr>
            <p:ph type="title"/>
          </p:nvPr>
        </p:nvSpPr>
        <p:spPr/>
        <p:txBody>
          <a:bodyPr/>
          <a:lstStyle/>
          <a:p>
            <a:r>
              <a:rPr lang="en-US" dirty="0"/>
              <a:t>Introduction</a:t>
            </a:r>
            <a:br>
              <a:rPr lang="en-US" dirty="0"/>
            </a:br>
            <a:r>
              <a:rPr lang="en-US" dirty="0"/>
              <a:t>Scope of my research</a:t>
            </a:r>
            <a:endParaRPr lang="en-CA" dirty="0"/>
          </a:p>
        </p:txBody>
      </p:sp>
      <p:pic>
        <p:nvPicPr>
          <p:cNvPr id="5" name="Content Placeholder 4">
            <a:extLst>
              <a:ext uri="{FF2B5EF4-FFF2-40B4-BE49-F238E27FC236}">
                <a16:creationId xmlns:a16="http://schemas.microsoft.com/office/drawing/2014/main" id="{77207A2F-2108-A86B-EC11-3A38A90EC464}"/>
              </a:ext>
            </a:extLst>
          </p:cNvPr>
          <p:cNvPicPr>
            <a:picLocks noGrp="1" noChangeAspect="1"/>
          </p:cNvPicPr>
          <p:nvPr>
            <p:ph idx="1"/>
          </p:nvPr>
        </p:nvPicPr>
        <p:blipFill>
          <a:blip r:embed="rId3"/>
          <a:stretch>
            <a:fillRect/>
          </a:stretch>
        </p:blipFill>
        <p:spPr>
          <a:xfrm flipH="1">
            <a:off x="6806313" y="3628899"/>
            <a:ext cx="2705100" cy="2627566"/>
          </a:xfrm>
          <a:prstGeom prst="rect">
            <a:avLst/>
          </a:prstGeom>
        </p:spPr>
      </p:pic>
      <p:pic>
        <p:nvPicPr>
          <p:cNvPr id="11" name="Picture 10">
            <a:extLst>
              <a:ext uri="{FF2B5EF4-FFF2-40B4-BE49-F238E27FC236}">
                <a16:creationId xmlns:a16="http://schemas.microsoft.com/office/drawing/2014/main" id="{C92E90A0-D44E-EE9E-C5DD-602F100710FA}"/>
              </a:ext>
            </a:extLst>
          </p:cNvPr>
          <p:cNvPicPr>
            <a:picLocks noChangeAspect="1"/>
          </p:cNvPicPr>
          <p:nvPr/>
        </p:nvPicPr>
        <p:blipFill>
          <a:blip r:embed="rId4"/>
          <a:stretch>
            <a:fillRect/>
          </a:stretch>
        </p:blipFill>
        <p:spPr>
          <a:xfrm>
            <a:off x="838200" y="4276726"/>
            <a:ext cx="4610100" cy="2305050"/>
          </a:xfrm>
          <a:prstGeom prst="rect">
            <a:avLst/>
          </a:prstGeom>
        </p:spPr>
      </p:pic>
      <p:pic>
        <p:nvPicPr>
          <p:cNvPr id="9" name="Picture 8">
            <a:extLst>
              <a:ext uri="{FF2B5EF4-FFF2-40B4-BE49-F238E27FC236}">
                <a16:creationId xmlns:a16="http://schemas.microsoft.com/office/drawing/2014/main" id="{19C5AC1C-10E1-6774-6BD3-9EB063BD7B79}"/>
              </a:ext>
            </a:extLst>
          </p:cNvPr>
          <p:cNvPicPr>
            <a:picLocks noChangeAspect="1"/>
          </p:cNvPicPr>
          <p:nvPr/>
        </p:nvPicPr>
        <p:blipFill>
          <a:blip r:embed="rId5"/>
          <a:stretch>
            <a:fillRect/>
          </a:stretch>
        </p:blipFill>
        <p:spPr>
          <a:xfrm>
            <a:off x="2196213" y="2486025"/>
            <a:ext cx="1894074" cy="1790701"/>
          </a:xfrm>
          <a:prstGeom prst="rect">
            <a:avLst/>
          </a:prstGeom>
        </p:spPr>
      </p:pic>
    </p:spTree>
    <p:extLst>
      <p:ext uri="{BB962C8B-B14F-4D97-AF65-F5344CB8AC3E}">
        <p14:creationId xmlns:p14="http://schemas.microsoft.com/office/powerpoint/2010/main" val="2155279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E098E2-68D6-C943-AAD7-09A6BE9C2EF6}"/>
              </a:ext>
            </a:extLst>
          </p:cNvPr>
          <p:cNvSpPr>
            <a:spLocks noGrp="1"/>
          </p:cNvSpPr>
          <p:nvPr>
            <p:ph type="title"/>
          </p:nvPr>
        </p:nvSpPr>
        <p:spPr>
          <a:xfrm>
            <a:off x="838200" y="557188"/>
            <a:ext cx="10515600" cy="1133499"/>
          </a:xfrm>
        </p:spPr>
        <p:txBody>
          <a:bodyPr>
            <a:normAutofit/>
          </a:bodyPr>
          <a:lstStyle/>
          <a:p>
            <a:r>
              <a:rPr lang="en-US" sz="3600" dirty="0"/>
              <a:t>Section 1</a:t>
            </a:r>
            <a:br>
              <a:rPr lang="en-US" sz="3600" dirty="0"/>
            </a:br>
            <a:r>
              <a:rPr lang="en-US" sz="3600" dirty="0"/>
              <a:t>Large Language Models in nuclear physics research</a:t>
            </a:r>
            <a:endParaRPr lang="en-CA" sz="3600" dirty="0"/>
          </a:p>
        </p:txBody>
      </p:sp>
      <p:graphicFrame>
        <p:nvGraphicFramePr>
          <p:cNvPr id="5" name="Content Placeholder 2">
            <a:extLst>
              <a:ext uri="{FF2B5EF4-FFF2-40B4-BE49-F238E27FC236}">
                <a16:creationId xmlns:a16="http://schemas.microsoft.com/office/drawing/2014/main" id="{D81D5E95-895B-3397-E725-54DCB6CE1E8C}"/>
              </a:ext>
            </a:extLst>
          </p:cNvPr>
          <p:cNvGraphicFramePr>
            <a:graphicFrameLocks noGrp="1"/>
          </p:cNvGraphicFramePr>
          <p:nvPr>
            <p:ph idx="1"/>
            <p:extLst>
              <p:ext uri="{D42A27DB-BD31-4B8C-83A1-F6EECF244321}">
                <p14:modId xmlns:p14="http://schemas.microsoft.com/office/powerpoint/2010/main" val="1550098199"/>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50125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Freeform: Shape 19">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Freeform: Shape 21">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6C467D6-143C-68F1-2940-AE6EA57FF2DC}"/>
              </a:ext>
            </a:extLst>
          </p:cNvPr>
          <p:cNvSpPr>
            <a:spLocks noGrp="1"/>
          </p:cNvSpPr>
          <p:nvPr>
            <p:ph type="title"/>
          </p:nvPr>
        </p:nvSpPr>
        <p:spPr>
          <a:xfrm>
            <a:off x="621792" y="1161288"/>
            <a:ext cx="3602736" cy="4526280"/>
          </a:xfrm>
        </p:spPr>
        <p:txBody>
          <a:bodyPr>
            <a:normAutofit/>
          </a:bodyPr>
          <a:lstStyle/>
          <a:p>
            <a:r>
              <a:rPr lang="en-US" sz="4000"/>
              <a:t>Section 1</a:t>
            </a:r>
            <a:br>
              <a:rPr lang="en-US" sz="4000"/>
            </a:br>
            <a:r>
              <a:rPr lang="en-CA" sz="4000"/>
              <a:t>How are LLM’s useful in nuclear research?</a:t>
            </a:r>
          </a:p>
        </p:txBody>
      </p:sp>
      <p:sp>
        <p:nvSpPr>
          <p:cNvPr id="24" name="Rectangle 2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4" name="Content Placeholder 2">
            <a:extLst>
              <a:ext uri="{FF2B5EF4-FFF2-40B4-BE49-F238E27FC236}">
                <a16:creationId xmlns:a16="http://schemas.microsoft.com/office/drawing/2014/main" id="{9ED48EDD-A93B-5D3F-639E-C44C11CF0292}"/>
              </a:ext>
            </a:extLst>
          </p:cNvPr>
          <p:cNvGraphicFramePr>
            <a:graphicFrameLocks noGrp="1"/>
          </p:cNvGraphicFramePr>
          <p:nvPr>
            <p:ph idx="1"/>
            <p:extLst>
              <p:ext uri="{D42A27DB-BD31-4B8C-83A1-F6EECF244321}">
                <p14:modId xmlns:p14="http://schemas.microsoft.com/office/powerpoint/2010/main" val="1783475672"/>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31440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DC2CD5-417C-C29D-0A63-A4C45509E06F}"/>
            </a:ext>
          </a:extLst>
        </p:cNvPr>
        <p:cNvGrpSpPr/>
        <p:nvPr/>
      </p:nvGrpSpPr>
      <p:grpSpPr>
        <a:xfrm>
          <a:off x="0" y="0"/>
          <a:ext cx="0" cy="0"/>
          <a:chOff x="0" y="0"/>
          <a:chExt cx="0" cy="0"/>
        </a:xfrm>
      </p:grpSpPr>
      <p:sp useBgFill="1">
        <p:nvSpPr>
          <p:cNvPr id="31"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36"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40" name="Freeform: Shape 39">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1" name="Freeform: Shape 40">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2" name="Freeform: Shape 41">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3" name="Freeform: Shape 42">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4" name="Freeform: Shape 43">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5" name="Freeform: Shape 44">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6" name="Freeform: Shape 45">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2CAE31A1-FA62-4602-7386-4B5DF8669D21}"/>
              </a:ext>
            </a:extLst>
          </p:cNvPr>
          <p:cNvSpPr>
            <a:spLocks noGrp="1"/>
          </p:cNvSpPr>
          <p:nvPr>
            <p:ph type="title"/>
          </p:nvPr>
        </p:nvSpPr>
        <p:spPr>
          <a:xfrm>
            <a:off x="786384" y="841249"/>
            <a:ext cx="5692953" cy="2587131"/>
          </a:xfrm>
        </p:spPr>
        <p:txBody>
          <a:bodyPr anchor="b">
            <a:normAutofit/>
          </a:bodyPr>
          <a:lstStyle/>
          <a:p>
            <a:r>
              <a:rPr lang="en-US" sz="4800">
                <a:solidFill>
                  <a:schemeClr val="bg1"/>
                </a:solidFill>
              </a:rPr>
              <a:t>Section 1</a:t>
            </a:r>
            <a:br>
              <a:rPr lang="en-US" sz="4800">
                <a:solidFill>
                  <a:schemeClr val="bg1"/>
                </a:solidFill>
              </a:rPr>
            </a:br>
            <a:r>
              <a:rPr lang="en-CA" sz="4800">
                <a:solidFill>
                  <a:schemeClr val="bg1"/>
                </a:solidFill>
              </a:rPr>
              <a:t>What limitations did they face?</a:t>
            </a:r>
          </a:p>
        </p:txBody>
      </p:sp>
      <p:sp>
        <p:nvSpPr>
          <p:cNvPr id="6" name="Content Placeholder 5">
            <a:extLst>
              <a:ext uri="{FF2B5EF4-FFF2-40B4-BE49-F238E27FC236}">
                <a16:creationId xmlns:a16="http://schemas.microsoft.com/office/drawing/2014/main" id="{663BC436-4AFA-66AB-6745-CDE2CCC97280}"/>
              </a:ext>
            </a:extLst>
          </p:cNvPr>
          <p:cNvSpPr>
            <a:spLocks noGrp="1"/>
          </p:cNvSpPr>
          <p:nvPr>
            <p:ph idx="1"/>
          </p:nvPr>
        </p:nvSpPr>
        <p:spPr>
          <a:xfrm>
            <a:off x="786383" y="3566810"/>
            <a:ext cx="5692953" cy="2651110"/>
          </a:xfrm>
        </p:spPr>
        <p:txBody>
          <a:bodyPr anchor="ctr">
            <a:normAutofit/>
          </a:bodyPr>
          <a:lstStyle/>
          <a:p>
            <a:r>
              <a:rPr lang="en-US" sz="1800">
                <a:solidFill>
                  <a:schemeClr val="tx2"/>
                </a:solidFill>
              </a:rPr>
              <a:t>Data and code access barriers:</a:t>
            </a:r>
          </a:p>
          <a:p>
            <a:r>
              <a:rPr lang="en-US" sz="1800">
                <a:solidFill>
                  <a:schemeClr val="tx2"/>
                </a:solidFill>
              </a:rPr>
              <a:t>Implementation depth: </a:t>
            </a:r>
          </a:p>
          <a:p>
            <a:r>
              <a:rPr lang="en-US" sz="1800">
                <a:solidFill>
                  <a:schemeClr val="tx2"/>
                </a:solidFill>
              </a:rPr>
              <a:t>Data access and validation: </a:t>
            </a:r>
          </a:p>
          <a:p>
            <a:r>
              <a:rPr lang="en-US" sz="1800">
                <a:solidFill>
                  <a:schemeClr val="tx2"/>
                </a:solidFill>
              </a:rPr>
              <a:t>Technical accuracy: </a:t>
            </a:r>
          </a:p>
          <a:p>
            <a:endParaRPr lang="en-CA" sz="1800">
              <a:solidFill>
                <a:schemeClr val="tx2"/>
              </a:solidFill>
            </a:endParaRPr>
          </a:p>
        </p:txBody>
      </p:sp>
    </p:spTree>
    <p:extLst>
      <p:ext uri="{BB962C8B-B14F-4D97-AF65-F5344CB8AC3E}">
        <p14:creationId xmlns:p14="http://schemas.microsoft.com/office/powerpoint/2010/main" val="592919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F5DC09-9367-8D73-E211-84002499118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1C0F81-07EB-D1DA-FB6C-38D9A4CD6342}"/>
              </a:ext>
            </a:extLst>
          </p:cNvPr>
          <p:cNvSpPr>
            <a:spLocks noGrp="1"/>
          </p:cNvSpPr>
          <p:nvPr>
            <p:ph type="title"/>
          </p:nvPr>
        </p:nvSpPr>
        <p:spPr>
          <a:xfrm>
            <a:off x="838200" y="556995"/>
            <a:ext cx="10515600" cy="1133693"/>
          </a:xfrm>
        </p:spPr>
        <p:txBody>
          <a:bodyPr>
            <a:normAutofit/>
          </a:bodyPr>
          <a:lstStyle/>
          <a:p>
            <a:r>
              <a:rPr lang="en-US" sz="3300"/>
              <a:t>Section 1</a:t>
            </a:r>
            <a:br>
              <a:rPr lang="en-US" sz="3300"/>
            </a:br>
            <a:r>
              <a:rPr lang="en-CA" sz="3300"/>
              <a:t>How relevant is LLM to nuclear energy research as a whole?</a:t>
            </a:r>
          </a:p>
        </p:txBody>
      </p:sp>
      <p:graphicFrame>
        <p:nvGraphicFramePr>
          <p:cNvPr id="5" name="Content Placeholder 2">
            <a:extLst>
              <a:ext uri="{FF2B5EF4-FFF2-40B4-BE49-F238E27FC236}">
                <a16:creationId xmlns:a16="http://schemas.microsoft.com/office/drawing/2014/main" id="{F873F0CC-7F41-F245-F3DE-90094D5942CE}"/>
              </a:ext>
            </a:extLst>
          </p:cNvPr>
          <p:cNvGraphicFramePr>
            <a:graphicFrameLocks noGrp="1"/>
          </p:cNvGraphicFramePr>
          <p:nvPr>
            <p:ph idx="1"/>
            <p:extLst>
              <p:ext uri="{D42A27DB-BD31-4B8C-83A1-F6EECF244321}">
                <p14:modId xmlns:p14="http://schemas.microsoft.com/office/powerpoint/2010/main" val="28485913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1426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DD81B-8687-9C90-213D-C74AB6A44094}"/>
              </a:ext>
            </a:extLst>
          </p:cNvPr>
          <p:cNvSpPr>
            <a:spLocks noGrp="1"/>
          </p:cNvSpPr>
          <p:nvPr>
            <p:ph type="title"/>
          </p:nvPr>
        </p:nvSpPr>
        <p:spPr/>
        <p:txBody>
          <a:bodyPr>
            <a:normAutofit/>
          </a:bodyPr>
          <a:lstStyle/>
          <a:p>
            <a:r>
              <a:rPr lang="en-US" dirty="0"/>
              <a:t>Section 2</a:t>
            </a:r>
            <a:br>
              <a:rPr lang="en-US" dirty="0"/>
            </a:br>
            <a:r>
              <a:rPr lang="en-US" dirty="0"/>
              <a:t>Monte Carlos Simulations</a:t>
            </a:r>
            <a:endParaRPr lang="en-CA" dirty="0"/>
          </a:p>
        </p:txBody>
      </p:sp>
      <p:sp>
        <p:nvSpPr>
          <p:cNvPr id="3" name="Content Placeholder 2">
            <a:extLst>
              <a:ext uri="{FF2B5EF4-FFF2-40B4-BE49-F238E27FC236}">
                <a16:creationId xmlns:a16="http://schemas.microsoft.com/office/drawing/2014/main" id="{DD7FB564-ED8D-0BBC-0E56-40FBF5360262}"/>
              </a:ext>
            </a:extLst>
          </p:cNvPr>
          <p:cNvSpPr>
            <a:spLocks noGrp="1"/>
          </p:cNvSpPr>
          <p:nvPr>
            <p:ph idx="1"/>
          </p:nvPr>
        </p:nvSpPr>
        <p:spPr/>
        <p:txBody>
          <a:bodyPr/>
          <a:lstStyle/>
          <a:p>
            <a:pPr marL="0" indent="0">
              <a:buNone/>
            </a:pPr>
            <a:r>
              <a:rPr lang="en-US" dirty="0"/>
              <a:t>- What is Monte Carlo Simulation?</a:t>
            </a:r>
            <a:endParaRPr lang="en-CA" dirty="0"/>
          </a:p>
        </p:txBody>
      </p:sp>
    </p:spTree>
    <p:extLst>
      <p:ext uri="{BB962C8B-B14F-4D97-AF65-F5344CB8AC3E}">
        <p14:creationId xmlns:p14="http://schemas.microsoft.com/office/powerpoint/2010/main" val="4239082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B3C2B-D432-11B2-7A6F-610B1740BF10}"/>
              </a:ext>
            </a:extLst>
          </p:cNvPr>
          <p:cNvSpPr>
            <a:spLocks noGrp="1"/>
          </p:cNvSpPr>
          <p:nvPr>
            <p:ph type="title"/>
          </p:nvPr>
        </p:nvSpPr>
        <p:spPr/>
        <p:txBody>
          <a:bodyPr/>
          <a:lstStyle/>
          <a:p>
            <a:r>
              <a:rPr lang="en-US" dirty="0"/>
              <a:t>Conclusion</a:t>
            </a:r>
            <a:endParaRPr lang="en-CA" dirty="0"/>
          </a:p>
        </p:txBody>
      </p:sp>
      <p:sp>
        <p:nvSpPr>
          <p:cNvPr id="3" name="Content Placeholder 2">
            <a:extLst>
              <a:ext uri="{FF2B5EF4-FFF2-40B4-BE49-F238E27FC236}">
                <a16:creationId xmlns:a16="http://schemas.microsoft.com/office/drawing/2014/main" id="{6FCFF0EC-F55F-9B86-5528-F2C4D4C59611}"/>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12969231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1168</TotalTime>
  <Words>1111</Words>
  <Application>Microsoft Office PowerPoint</Application>
  <PresentationFormat>Widescreen</PresentationFormat>
  <Paragraphs>124</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Calibri</vt:lpstr>
      <vt:lpstr>Office Theme</vt:lpstr>
      <vt:lpstr>What are the modern  computational techniques  employed for nuclear physics engineering?</vt:lpstr>
      <vt:lpstr>Agenda</vt:lpstr>
      <vt:lpstr>Introduction Dissecting my topic question (Revisit)</vt:lpstr>
      <vt:lpstr>PowerPoint Presentation</vt:lpstr>
      <vt:lpstr>Introduction Scope of my research</vt:lpstr>
      <vt:lpstr>Section 1 Large Language Models in nuclear physics research</vt:lpstr>
      <vt:lpstr>Section 1 How are LLM’s useful in nuclear research?</vt:lpstr>
      <vt:lpstr>Section 1 What limitations did they face?</vt:lpstr>
      <vt:lpstr>Section 1 How relevant is LLM to nuclear energy research as a whole?</vt:lpstr>
      <vt:lpstr>Section 2 Monte Carlos Simulations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Vallée-Vézina, Avery</dc:creator>
  <cp:lastModifiedBy>Vallée-Vézina, Avery</cp:lastModifiedBy>
  <cp:revision>52</cp:revision>
  <dcterms:created xsi:type="dcterms:W3CDTF">2025-12-05T15:37:42Z</dcterms:created>
  <dcterms:modified xsi:type="dcterms:W3CDTF">2025-12-14T04:10:25Z</dcterms:modified>
</cp:coreProperties>
</file>